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16"/>
  </p:notesMasterIdLst>
  <p:sldIdLst>
    <p:sldId id="271" r:id="rId2"/>
    <p:sldId id="264" r:id="rId3"/>
    <p:sldId id="291" r:id="rId4"/>
    <p:sldId id="287" r:id="rId5"/>
    <p:sldId id="289" r:id="rId6"/>
    <p:sldId id="282" r:id="rId7"/>
    <p:sldId id="283" r:id="rId8"/>
    <p:sldId id="280" r:id="rId9"/>
    <p:sldId id="268" r:id="rId10"/>
    <p:sldId id="270" r:id="rId11"/>
    <p:sldId id="275" r:id="rId12"/>
    <p:sldId id="277" r:id="rId13"/>
    <p:sldId id="279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4"/>
    <a:srgbClr val="ECDE2A"/>
    <a:srgbClr val="FFFFFF"/>
    <a:srgbClr val="FFF1D6"/>
    <a:srgbClr val="DEFAE2"/>
    <a:srgbClr val="F2F2F2"/>
    <a:srgbClr val="FFF4C5"/>
    <a:srgbClr val="F3EDDF"/>
    <a:srgbClr val="802B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92EF5-F764-49A2-B8C1-6841B5318A1E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4F0B27-04D8-44FE-8D93-F4BB9EBF61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622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0" dirty="0">
              <a:solidFill>
                <a:srgbClr val="1C1340"/>
              </a:solidFill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4F0B27-04D8-44FE-8D93-F4BB9EBF61A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532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rgbClr val="5E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066D38-0B84-26E6-D7FF-EE3F135378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84" t="38917" r="14475" b="41959"/>
          <a:stretch>
            <a:fillRect/>
          </a:stretch>
        </p:blipFill>
        <p:spPr>
          <a:xfrm>
            <a:off x="1" y="0"/>
            <a:ext cx="12191999" cy="363340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F7794D7-041F-22EB-C8EA-B2C97F9CEE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082" y="2644541"/>
            <a:ext cx="3137836" cy="156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412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32">
          <p15:clr>
            <a:srgbClr val="FBAE40"/>
          </p15:clr>
        </p15:guide>
        <p15:guide id="7" orient="horz" pos="459">
          <p15:clr>
            <a:srgbClr val="FBAE40"/>
          </p15:clr>
        </p15:guide>
        <p15:guide id="8" orient="horz" pos="572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1026">
          <p15:clr>
            <a:srgbClr val="FBAE40"/>
          </p15:clr>
        </p15:guide>
        <p15:guide id="11" orient="horz" pos="4088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39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6">
            <a:extLst>
              <a:ext uri="{FF2B5EF4-FFF2-40B4-BE49-F238E27FC236}">
                <a16:creationId xmlns:a16="http://schemas.microsoft.com/office/drawing/2014/main" id="{525556FA-EA7D-CEA7-8EBE-8ED4A93DF796}"/>
              </a:ext>
            </a:extLst>
          </p:cNvPr>
          <p:cNvSpPr txBox="1"/>
          <p:nvPr userDrawn="1"/>
        </p:nvSpPr>
        <p:spPr>
          <a:xfrm>
            <a:off x="11597065" y="6396038"/>
            <a:ext cx="286781" cy="18732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000" b="0" i="0" kern="1200">
                <a:solidFill>
                  <a:srgbClr val="464875"/>
                </a:solidFill>
                <a:latin typeface="DIN Next LT Arabic" panose="020B0504030504040204" pitchFamily="34" charset="-78"/>
                <a:ea typeface="DIN Next LT Arabic"/>
                <a:cs typeface="DIN Next LT Arabic" panose="020B0504030504040204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9pPr>
          </a:lstStyle>
          <a:p>
            <a:pPr marL="38100" algn="r" rtl="1">
              <a:lnSpc>
                <a:spcPts val="1320"/>
              </a:lnSpc>
              <a:tabLst>
                <a:tab pos="332740" algn="l"/>
              </a:tabLst>
            </a:pPr>
            <a:fld id="{40A95C50-1D06-9F4F-81CE-326FB0CC3C60}" type="slidenum">
              <a:rPr lang="en-US" sz="800" b="1" i="0" smtClean="0">
                <a:solidFill>
                  <a:srgbClr val="5E2EE8"/>
                </a:solidFill>
                <a:latin typeface="DIN Next LT Arabic" panose="020B0603030604040103" pitchFamily="34" charset="0"/>
                <a:cs typeface="DIN Next LT Arabic" panose="02000500000000000000" pitchFamily="2" charset="-78"/>
              </a:rPr>
              <a:pPr marL="38100" algn="r" rtl="1">
                <a:lnSpc>
                  <a:spcPts val="1320"/>
                </a:lnSpc>
                <a:tabLst>
                  <a:tab pos="332740" algn="l"/>
                </a:tabLst>
              </a:pPr>
              <a:t>‹#›</a:t>
            </a:fld>
            <a:endParaRPr lang="en-US" sz="800" b="1" i="0" dirty="0">
              <a:solidFill>
                <a:srgbClr val="5E2EE8"/>
              </a:solidFill>
              <a:latin typeface="DIN Next LT Arabic" panose="020B0603030604040103" pitchFamily="34" charset="0"/>
              <a:cs typeface="DIN Next LT Arabic" panose="02000500000000000000" pitchFamily="2" charset="-78"/>
            </a:endParaRPr>
          </a:p>
        </p:txBody>
      </p:sp>
      <p:sp>
        <p:nvSpPr>
          <p:cNvPr id="362" name="Freeform: Shape 361">
            <a:extLst>
              <a:ext uri="{FF2B5EF4-FFF2-40B4-BE49-F238E27FC236}">
                <a16:creationId xmlns:a16="http://schemas.microsoft.com/office/drawing/2014/main" id="{75F06720-FD9F-2BED-DB16-DB081640791D}"/>
              </a:ext>
            </a:extLst>
          </p:cNvPr>
          <p:cNvSpPr/>
          <p:nvPr userDrawn="1"/>
        </p:nvSpPr>
        <p:spPr>
          <a:xfrm rot="5400000" flipH="1" flipV="1">
            <a:off x="3833032" y="-3124722"/>
            <a:ext cx="538515" cy="7527035"/>
          </a:xfrm>
          <a:custGeom>
            <a:avLst/>
            <a:gdLst>
              <a:gd name="csX0" fmla="*/ 538515 w 538515"/>
              <a:gd name="csY0" fmla="*/ 176593 h 7527035"/>
              <a:gd name="csX1" fmla="*/ 538515 w 538515"/>
              <a:gd name="csY1" fmla="*/ 6886968 h 7527035"/>
              <a:gd name="csX2" fmla="*/ 535466 w 538515"/>
              <a:gd name="csY2" fmla="*/ 6917214 h 7527035"/>
              <a:gd name="csX3" fmla="*/ 535466 w 538515"/>
              <a:gd name="csY3" fmla="*/ 7035446 h 7527035"/>
              <a:gd name="csX4" fmla="*/ 43876 w 538515"/>
              <a:gd name="csY4" fmla="*/ 7527035 h 7527035"/>
              <a:gd name="csX5" fmla="*/ 0 w 538515"/>
              <a:gd name="csY5" fmla="*/ 7527035 h 7527035"/>
              <a:gd name="csX6" fmla="*/ 0 w 538515"/>
              <a:gd name="csY6" fmla="*/ 6495073 h 7527035"/>
              <a:gd name="csX7" fmla="*/ 3 w 538515"/>
              <a:gd name="csY7" fmla="*/ 6495073 h 7527035"/>
              <a:gd name="csX8" fmla="*/ 3 w 538515"/>
              <a:gd name="csY8" fmla="*/ 1031962 h 7527035"/>
              <a:gd name="csX9" fmla="*/ 3 w 538515"/>
              <a:gd name="csY9" fmla="*/ 491590 h 7527035"/>
              <a:gd name="csX10" fmla="*/ 3 w 538515"/>
              <a:gd name="csY10" fmla="*/ 445849 h 7527035"/>
              <a:gd name="csX11" fmla="*/ 21163 w 538515"/>
              <a:gd name="csY11" fmla="*/ 341043 h 7527035"/>
              <a:gd name="csX12" fmla="*/ 32396 w 538515"/>
              <a:gd name="csY12" fmla="*/ 320346 h 7527035"/>
              <a:gd name="csX13" fmla="*/ 38657 w 538515"/>
              <a:gd name="csY13" fmla="*/ 300186 h 7527035"/>
              <a:gd name="csX14" fmla="*/ 491593 w 538515"/>
              <a:gd name="csY14" fmla="*/ 0 h 7527035"/>
              <a:gd name="csX15" fmla="*/ 535469 w 538515"/>
              <a:gd name="csY15" fmla="*/ 0 h 7527035"/>
              <a:gd name="csX16" fmla="*/ 535469 w 538515"/>
              <a:gd name="csY16" fmla="*/ 176593 h 7527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38515" h="7527035">
                <a:moveTo>
                  <a:pt x="538515" y="176593"/>
                </a:moveTo>
                <a:lnTo>
                  <a:pt x="538515" y="6886968"/>
                </a:lnTo>
                <a:lnTo>
                  <a:pt x="535466" y="6917214"/>
                </a:lnTo>
                <a:lnTo>
                  <a:pt x="535466" y="7035446"/>
                </a:lnTo>
                <a:cubicBezTo>
                  <a:pt x="535466" y="7307074"/>
                  <a:pt x="315217" y="7527035"/>
                  <a:pt x="43876" y="7527035"/>
                </a:cubicBezTo>
                <a:lnTo>
                  <a:pt x="0" y="7527035"/>
                </a:lnTo>
                <a:lnTo>
                  <a:pt x="0" y="6495073"/>
                </a:lnTo>
                <a:lnTo>
                  <a:pt x="3" y="6495073"/>
                </a:lnTo>
                <a:lnTo>
                  <a:pt x="3" y="1031962"/>
                </a:lnTo>
                <a:lnTo>
                  <a:pt x="3" y="491590"/>
                </a:lnTo>
                <a:lnTo>
                  <a:pt x="3" y="445849"/>
                </a:lnTo>
                <a:cubicBezTo>
                  <a:pt x="3" y="408673"/>
                  <a:pt x="7537" y="373256"/>
                  <a:pt x="21163" y="341043"/>
                </a:cubicBezTo>
                <a:lnTo>
                  <a:pt x="32396" y="320346"/>
                </a:lnTo>
                <a:lnTo>
                  <a:pt x="38657" y="300186"/>
                </a:lnTo>
                <a:cubicBezTo>
                  <a:pt x="113321" y="123728"/>
                  <a:pt x="288087" y="0"/>
                  <a:pt x="491593" y="0"/>
                </a:cubicBezTo>
                <a:lnTo>
                  <a:pt x="535469" y="0"/>
                </a:lnTo>
                <a:lnTo>
                  <a:pt x="535469" y="176593"/>
                </a:lnTo>
                <a:close/>
              </a:path>
            </a:pathLst>
          </a:custGeom>
          <a:gradFill flip="none" rotWithShape="1">
            <a:gsLst>
              <a:gs pos="36000">
                <a:srgbClr val="5E2EE8"/>
              </a:gs>
              <a:gs pos="100000">
                <a:srgbClr val="946CFD"/>
              </a:gs>
            </a:gsLst>
            <a:lin ang="5400000" scaled="1"/>
            <a:tileRect/>
          </a:gra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 dirty="0">
              <a:latin typeface="DIN Next LT Arabic" panose="020B0603030604040103" pitchFamily="34" charset="0"/>
              <a:cs typeface="DIN Next LT Arabic" panose="020B0603030604040103" pitchFamily="34" charset="0"/>
            </a:endParaRPr>
          </a:p>
        </p:txBody>
      </p:sp>
      <p:pic>
        <p:nvPicPr>
          <p:cNvPr id="364" name="Graphic 363">
            <a:extLst>
              <a:ext uri="{FF2B5EF4-FFF2-40B4-BE49-F238E27FC236}">
                <a16:creationId xmlns:a16="http://schemas.microsoft.com/office/drawing/2014/main" id="{DED702E4-BA6E-3CCA-0B94-6D38EEB00A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34964" y="6319111"/>
            <a:ext cx="394502" cy="349264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64A7DE4D-37B5-94C0-3E58-9DC7EFE579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50776" y="6319111"/>
            <a:ext cx="394502" cy="349264"/>
          </a:xfrm>
          <a:prstGeom prst="rect">
            <a:avLst/>
          </a:prstGeom>
        </p:spPr>
      </p:pic>
      <p:pic>
        <p:nvPicPr>
          <p:cNvPr id="366" name="Graphic 365">
            <a:extLst>
              <a:ext uri="{FF2B5EF4-FFF2-40B4-BE49-F238E27FC236}">
                <a16:creationId xmlns:a16="http://schemas.microsoft.com/office/drawing/2014/main" id="{C913B7DB-EBDD-5C3A-3E73-9E400D3E24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66588" y="6319111"/>
            <a:ext cx="394502" cy="349264"/>
          </a:xfrm>
          <a:prstGeom prst="rect">
            <a:avLst/>
          </a:prstGeom>
        </p:spPr>
      </p:pic>
      <p:pic>
        <p:nvPicPr>
          <p:cNvPr id="367" name="Graphic 366">
            <a:extLst>
              <a:ext uri="{FF2B5EF4-FFF2-40B4-BE49-F238E27FC236}">
                <a16:creationId xmlns:a16="http://schemas.microsoft.com/office/drawing/2014/main" id="{B51808AE-AFDD-ADF8-40D3-E4115B4C39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582400" y="6319111"/>
            <a:ext cx="394502" cy="349264"/>
          </a:xfrm>
          <a:prstGeom prst="rect">
            <a:avLst/>
          </a:prstGeom>
        </p:spPr>
      </p:pic>
      <p:pic>
        <p:nvPicPr>
          <p:cNvPr id="368" name="Graphic 367">
            <a:extLst>
              <a:ext uri="{FF2B5EF4-FFF2-40B4-BE49-F238E27FC236}">
                <a16:creationId xmlns:a16="http://schemas.microsoft.com/office/drawing/2014/main" id="{1688D5F3-5563-539E-E920-EF92BFFE3D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998212" y="6319111"/>
            <a:ext cx="394502" cy="349264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56D51C40-2464-4A80-2430-08EC7665CD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414024" y="6319111"/>
            <a:ext cx="394502" cy="349264"/>
          </a:xfrm>
          <a:prstGeom prst="rect">
            <a:avLst/>
          </a:prstGeom>
        </p:spPr>
      </p:pic>
      <p:pic>
        <p:nvPicPr>
          <p:cNvPr id="370" name="Graphic 369">
            <a:extLst>
              <a:ext uri="{FF2B5EF4-FFF2-40B4-BE49-F238E27FC236}">
                <a16:creationId xmlns:a16="http://schemas.microsoft.com/office/drawing/2014/main" id="{C63EC6BC-A62B-5AF5-DC57-5B16D4D3C3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829836" y="6319111"/>
            <a:ext cx="394502" cy="349264"/>
          </a:xfrm>
          <a:prstGeom prst="rect">
            <a:avLst/>
          </a:prstGeom>
        </p:spPr>
      </p:pic>
      <p:pic>
        <p:nvPicPr>
          <p:cNvPr id="371" name="Graphic 370">
            <a:extLst>
              <a:ext uri="{FF2B5EF4-FFF2-40B4-BE49-F238E27FC236}">
                <a16:creationId xmlns:a16="http://schemas.microsoft.com/office/drawing/2014/main" id="{D97E6F9A-EB69-3DAB-85E9-5EFB2EE347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245648" y="6319111"/>
            <a:ext cx="394502" cy="349264"/>
          </a:xfrm>
          <a:prstGeom prst="rect">
            <a:avLst/>
          </a:prstGeom>
        </p:spPr>
      </p:pic>
      <p:pic>
        <p:nvPicPr>
          <p:cNvPr id="372" name="Graphic 371">
            <a:extLst>
              <a:ext uri="{FF2B5EF4-FFF2-40B4-BE49-F238E27FC236}">
                <a16:creationId xmlns:a16="http://schemas.microsoft.com/office/drawing/2014/main" id="{FD44A84C-4779-2DDE-1FA0-1723AC0507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661460" y="6319111"/>
            <a:ext cx="394502" cy="349264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68691855-CE50-283E-2026-3AA820E599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077272" y="6319111"/>
            <a:ext cx="394502" cy="349264"/>
          </a:xfrm>
          <a:prstGeom prst="rect">
            <a:avLst/>
          </a:prstGeom>
        </p:spPr>
      </p:pic>
      <p:pic>
        <p:nvPicPr>
          <p:cNvPr id="374" name="Graphic 373">
            <a:extLst>
              <a:ext uri="{FF2B5EF4-FFF2-40B4-BE49-F238E27FC236}">
                <a16:creationId xmlns:a16="http://schemas.microsoft.com/office/drawing/2014/main" id="{7B8715CE-BA63-BC45-7E13-DD06CA62B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493084" y="6319111"/>
            <a:ext cx="394502" cy="349264"/>
          </a:xfrm>
          <a:prstGeom prst="rect">
            <a:avLst/>
          </a:prstGeom>
        </p:spPr>
      </p:pic>
      <p:pic>
        <p:nvPicPr>
          <p:cNvPr id="375" name="Graphic 374">
            <a:extLst>
              <a:ext uri="{FF2B5EF4-FFF2-40B4-BE49-F238E27FC236}">
                <a16:creationId xmlns:a16="http://schemas.microsoft.com/office/drawing/2014/main" id="{F4D2CD5C-35A3-B153-C5BB-68B2A2E13F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908896" y="6319111"/>
            <a:ext cx="394502" cy="349264"/>
          </a:xfrm>
          <a:prstGeom prst="rect">
            <a:avLst/>
          </a:prstGeom>
        </p:spPr>
      </p:pic>
      <p:pic>
        <p:nvPicPr>
          <p:cNvPr id="376" name="Graphic 375">
            <a:extLst>
              <a:ext uri="{FF2B5EF4-FFF2-40B4-BE49-F238E27FC236}">
                <a16:creationId xmlns:a16="http://schemas.microsoft.com/office/drawing/2014/main" id="{15255662-DCC6-950D-2FE9-11CC0C81D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324708" y="6319111"/>
            <a:ext cx="394502" cy="349264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4A5B548A-33F1-FE74-78B0-C07BDB904A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740520" y="6319111"/>
            <a:ext cx="394502" cy="349264"/>
          </a:xfrm>
          <a:prstGeom prst="rect">
            <a:avLst/>
          </a:prstGeom>
        </p:spPr>
      </p:pic>
      <p:pic>
        <p:nvPicPr>
          <p:cNvPr id="378" name="Graphic 377">
            <a:extLst>
              <a:ext uri="{FF2B5EF4-FFF2-40B4-BE49-F238E27FC236}">
                <a16:creationId xmlns:a16="http://schemas.microsoft.com/office/drawing/2014/main" id="{4327F2BB-0929-5708-BE78-C1892893B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156332" y="6319111"/>
            <a:ext cx="394502" cy="349264"/>
          </a:xfrm>
          <a:prstGeom prst="rect">
            <a:avLst/>
          </a:prstGeom>
        </p:spPr>
      </p:pic>
      <p:pic>
        <p:nvPicPr>
          <p:cNvPr id="379" name="Graphic 378">
            <a:extLst>
              <a:ext uri="{FF2B5EF4-FFF2-40B4-BE49-F238E27FC236}">
                <a16:creationId xmlns:a16="http://schemas.microsoft.com/office/drawing/2014/main" id="{0242F9DA-9355-716E-652C-474C5E9262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572144" y="6319111"/>
            <a:ext cx="394502" cy="349264"/>
          </a:xfrm>
          <a:prstGeom prst="rect">
            <a:avLst/>
          </a:prstGeom>
        </p:spPr>
      </p:pic>
      <p:pic>
        <p:nvPicPr>
          <p:cNvPr id="380" name="Graphic 379">
            <a:extLst>
              <a:ext uri="{FF2B5EF4-FFF2-40B4-BE49-F238E27FC236}">
                <a16:creationId xmlns:a16="http://schemas.microsoft.com/office/drawing/2014/main" id="{E1DB7DF1-714E-D5CB-29E6-1E90B5797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987956" y="6319111"/>
            <a:ext cx="394502" cy="349264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6E9E873E-8949-0E79-3A1E-A98AFD8B4B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403768" y="6319111"/>
            <a:ext cx="394502" cy="349264"/>
          </a:xfrm>
          <a:prstGeom prst="rect">
            <a:avLst/>
          </a:prstGeom>
        </p:spPr>
      </p:pic>
      <p:pic>
        <p:nvPicPr>
          <p:cNvPr id="382" name="Graphic 381">
            <a:extLst>
              <a:ext uri="{FF2B5EF4-FFF2-40B4-BE49-F238E27FC236}">
                <a16:creationId xmlns:a16="http://schemas.microsoft.com/office/drawing/2014/main" id="{F7DF241B-768C-FCC7-D0AE-458F6B73B2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819580" y="6319111"/>
            <a:ext cx="394502" cy="349264"/>
          </a:xfrm>
          <a:prstGeom prst="rect">
            <a:avLst/>
          </a:prstGeom>
        </p:spPr>
      </p:pic>
      <p:pic>
        <p:nvPicPr>
          <p:cNvPr id="383" name="Graphic 382">
            <a:extLst>
              <a:ext uri="{FF2B5EF4-FFF2-40B4-BE49-F238E27FC236}">
                <a16:creationId xmlns:a16="http://schemas.microsoft.com/office/drawing/2014/main" id="{FB1A0AAF-D4A3-72CF-58EB-2622F394FC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235392" y="6319111"/>
            <a:ext cx="394502" cy="349264"/>
          </a:xfrm>
          <a:prstGeom prst="rect">
            <a:avLst/>
          </a:prstGeom>
        </p:spPr>
      </p:pic>
      <p:pic>
        <p:nvPicPr>
          <p:cNvPr id="384" name="Graphic 383">
            <a:extLst>
              <a:ext uri="{FF2B5EF4-FFF2-40B4-BE49-F238E27FC236}">
                <a16:creationId xmlns:a16="http://schemas.microsoft.com/office/drawing/2014/main" id="{C5DBA88A-6C34-A9C1-42BB-1C53AEA65A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651204" y="6319111"/>
            <a:ext cx="394502" cy="349264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9B66C949-D324-E821-1FB6-6B8F628D4B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067016" y="6319111"/>
            <a:ext cx="394502" cy="349264"/>
          </a:xfrm>
          <a:prstGeom prst="rect">
            <a:avLst/>
          </a:prstGeom>
        </p:spPr>
      </p:pic>
      <p:pic>
        <p:nvPicPr>
          <p:cNvPr id="386" name="Graphic 385">
            <a:extLst>
              <a:ext uri="{FF2B5EF4-FFF2-40B4-BE49-F238E27FC236}">
                <a16:creationId xmlns:a16="http://schemas.microsoft.com/office/drawing/2014/main" id="{761B9698-9942-5910-BB6D-DC6487093F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482828" y="6319111"/>
            <a:ext cx="394502" cy="349264"/>
          </a:xfrm>
          <a:prstGeom prst="rect">
            <a:avLst/>
          </a:prstGeom>
        </p:spPr>
      </p:pic>
      <p:pic>
        <p:nvPicPr>
          <p:cNvPr id="387" name="Graphic 386">
            <a:extLst>
              <a:ext uri="{FF2B5EF4-FFF2-40B4-BE49-F238E27FC236}">
                <a16:creationId xmlns:a16="http://schemas.microsoft.com/office/drawing/2014/main" id="{1C5A5C45-35E7-D31A-148A-2FA985F388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898640" y="6319111"/>
            <a:ext cx="394502" cy="349264"/>
          </a:xfrm>
          <a:prstGeom prst="rect">
            <a:avLst/>
          </a:prstGeom>
        </p:spPr>
      </p:pic>
      <p:pic>
        <p:nvPicPr>
          <p:cNvPr id="388" name="Graphic 387">
            <a:extLst>
              <a:ext uri="{FF2B5EF4-FFF2-40B4-BE49-F238E27FC236}">
                <a16:creationId xmlns:a16="http://schemas.microsoft.com/office/drawing/2014/main" id="{8D0DDE66-B34D-7AA7-72BA-ADAAE2B5CE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314452" y="6319111"/>
            <a:ext cx="394502" cy="349264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414AC80B-3434-EFCE-FDD3-C7CFB454C1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730264" y="6319111"/>
            <a:ext cx="394502" cy="349264"/>
          </a:xfrm>
          <a:prstGeom prst="rect">
            <a:avLst/>
          </a:prstGeom>
        </p:spPr>
      </p:pic>
      <p:pic>
        <p:nvPicPr>
          <p:cNvPr id="390" name="Graphic 389">
            <a:extLst>
              <a:ext uri="{FF2B5EF4-FFF2-40B4-BE49-F238E27FC236}">
                <a16:creationId xmlns:a16="http://schemas.microsoft.com/office/drawing/2014/main" id="{72816623-C95B-F87F-23CA-1C8CFE94E9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146076" y="6319111"/>
            <a:ext cx="394502" cy="3492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127DDBD-8301-3814-18B5-20E4847309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85414" y="347060"/>
            <a:ext cx="1171623" cy="58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09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32">
          <p15:clr>
            <a:srgbClr val="FBAE40"/>
          </p15:clr>
        </p15:guide>
        <p15:guide id="7" orient="horz" pos="459">
          <p15:clr>
            <a:srgbClr val="FBAE40"/>
          </p15:clr>
        </p15:guide>
        <p15:guide id="8" orient="horz" pos="572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1026">
          <p15:clr>
            <a:srgbClr val="FBAE40"/>
          </p15:clr>
        </p15:guide>
        <p15:guide id="11" orient="horz" pos="4088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397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6">
            <a:extLst>
              <a:ext uri="{FF2B5EF4-FFF2-40B4-BE49-F238E27FC236}">
                <a16:creationId xmlns:a16="http://schemas.microsoft.com/office/drawing/2014/main" id="{525556FA-EA7D-CEA7-8EBE-8ED4A93DF796}"/>
              </a:ext>
            </a:extLst>
          </p:cNvPr>
          <p:cNvSpPr txBox="1"/>
          <p:nvPr userDrawn="1"/>
        </p:nvSpPr>
        <p:spPr>
          <a:xfrm>
            <a:off x="11597065" y="6396038"/>
            <a:ext cx="286781" cy="18732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000" b="0" i="0" kern="1200">
                <a:solidFill>
                  <a:srgbClr val="464875"/>
                </a:solidFill>
                <a:latin typeface="DIN Next LT Arabic" panose="020B0504030504040204" pitchFamily="34" charset="-78"/>
                <a:ea typeface="DIN Next LT Arabic"/>
                <a:cs typeface="DIN Next LT Arabic" panose="020B0504030504040204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9pPr>
          </a:lstStyle>
          <a:p>
            <a:pPr marL="38100" algn="r" rtl="1">
              <a:lnSpc>
                <a:spcPts val="1320"/>
              </a:lnSpc>
              <a:tabLst>
                <a:tab pos="332740" algn="l"/>
              </a:tabLst>
            </a:pPr>
            <a:fld id="{40A95C50-1D06-9F4F-81CE-326FB0CC3C60}" type="slidenum">
              <a:rPr lang="en-US" sz="800" b="1" i="0" smtClean="0">
                <a:solidFill>
                  <a:srgbClr val="5E2EE8"/>
                </a:solidFill>
                <a:latin typeface="DIN Next LT Arabic" panose="020B0603030604040103" pitchFamily="34" charset="0"/>
                <a:cs typeface="DIN Next LT Arabic" panose="02000500000000000000" pitchFamily="2" charset="-78"/>
              </a:rPr>
              <a:pPr marL="38100" algn="r" rtl="1">
                <a:lnSpc>
                  <a:spcPts val="1320"/>
                </a:lnSpc>
                <a:tabLst>
                  <a:tab pos="332740" algn="l"/>
                </a:tabLst>
              </a:pPr>
              <a:t>‹#›</a:t>
            </a:fld>
            <a:endParaRPr lang="en-US" sz="800" b="1" i="0" dirty="0">
              <a:solidFill>
                <a:srgbClr val="5E2EE8"/>
              </a:solidFill>
              <a:latin typeface="DIN Next LT Arabic" panose="020B0603030604040103" pitchFamily="34" charset="0"/>
              <a:cs typeface="DIN Next LT Arabic" panose="02000500000000000000" pitchFamily="2" charset="-78"/>
            </a:endParaRPr>
          </a:p>
        </p:txBody>
      </p:sp>
      <p:pic>
        <p:nvPicPr>
          <p:cNvPr id="364" name="Graphic 363">
            <a:extLst>
              <a:ext uri="{FF2B5EF4-FFF2-40B4-BE49-F238E27FC236}">
                <a16:creationId xmlns:a16="http://schemas.microsoft.com/office/drawing/2014/main" id="{DED702E4-BA6E-3CCA-0B94-6D38EEB00A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34964" y="6319111"/>
            <a:ext cx="394502" cy="349264"/>
          </a:xfrm>
          <a:prstGeom prst="rect">
            <a:avLst/>
          </a:prstGeom>
        </p:spPr>
      </p:pic>
      <p:pic>
        <p:nvPicPr>
          <p:cNvPr id="365" name="Graphic 364">
            <a:extLst>
              <a:ext uri="{FF2B5EF4-FFF2-40B4-BE49-F238E27FC236}">
                <a16:creationId xmlns:a16="http://schemas.microsoft.com/office/drawing/2014/main" id="{64A7DE4D-37B5-94C0-3E58-9DC7EFE579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50776" y="6319111"/>
            <a:ext cx="394502" cy="349264"/>
          </a:xfrm>
          <a:prstGeom prst="rect">
            <a:avLst/>
          </a:prstGeom>
        </p:spPr>
      </p:pic>
      <p:pic>
        <p:nvPicPr>
          <p:cNvPr id="366" name="Graphic 365">
            <a:extLst>
              <a:ext uri="{FF2B5EF4-FFF2-40B4-BE49-F238E27FC236}">
                <a16:creationId xmlns:a16="http://schemas.microsoft.com/office/drawing/2014/main" id="{C913B7DB-EBDD-5C3A-3E73-9E400D3E24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66588" y="6319111"/>
            <a:ext cx="394502" cy="349264"/>
          </a:xfrm>
          <a:prstGeom prst="rect">
            <a:avLst/>
          </a:prstGeom>
        </p:spPr>
      </p:pic>
      <p:pic>
        <p:nvPicPr>
          <p:cNvPr id="367" name="Graphic 366">
            <a:extLst>
              <a:ext uri="{FF2B5EF4-FFF2-40B4-BE49-F238E27FC236}">
                <a16:creationId xmlns:a16="http://schemas.microsoft.com/office/drawing/2014/main" id="{B51808AE-AFDD-ADF8-40D3-E4115B4C396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582400" y="6319111"/>
            <a:ext cx="394502" cy="349264"/>
          </a:xfrm>
          <a:prstGeom prst="rect">
            <a:avLst/>
          </a:prstGeom>
        </p:spPr>
      </p:pic>
      <p:pic>
        <p:nvPicPr>
          <p:cNvPr id="368" name="Graphic 367">
            <a:extLst>
              <a:ext uri="{FF2B5EF4-FFF2-40B4-BE49-F238E27FC236}">
                <a16:creationId xmlns:a16="http://schemas.microsoft.com/office/drawing/2014/main" id="{1688D5F3-5563-539E-E920-EF92BFFE3D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998212" y="6319111"/>
            <a:ext cx="394502" cy="349264"/>
          </a:xfrm>
          <a:prstGeom prst="rect">
            <a:avLst/>
          </a:prstGeom>
        </p:spPr>
      </p:pic>
      <p:pic>
        <p:nvPicPr>
          <p:cNvPr id="369" name="Graphic 368">
            <a:extLst>
              <a:ext uri="{FF2B5EF4-FFF2-40B4-BE49-F238E27FC236}">
                <a16:creationId xmlns:a16="http://schemas.microsoft.com/office/drawing/2014/main" id="{56D51C40-2464-4A80-2430-08EC7665CD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414024" y="6319111"/>
            <a:ext cx="394502" cy="349264"/>
          </a:xfrm>
          <a:prstGeom prst="rect">
            <a:avLst/>
          </a:prstGeom>
        </p:spPr>
      </p:pic>
      <p:pic>
        <p:nvPicPr>
          <p:cNvPr id="370" name="Graphic 369">
            <a:extLst>
              <a:ext uri="{FF2B5EF4-FFF2-40B4-BE49-F238E27FC236}">
                <a16:creationId xmlns:a16="http://schemas.microsoft.com/office/drawing/2014/main" id="{C63EC6BC-A62B-5AF5-DC57-5B16D4D3C3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829836" y="6319111"/>
            <a:ext cx="394502" cy="349264"/>
          </a:xfrm>
          <a:prstGeom prst="rect">
            <a:avLst/>
          </a:prstGeom>
        </p:spPr>
      </p:pic>
      <p:pic>
        <p:nvPicPr>
          <p:cNvPr id="371" name="Graphic 370">
            <a:extLst>
              <a:ext uri="{FF2B5EF4-FFF2-40B4-BE49-F238E27FC236}">
                <a16:creationId xmlns:a16="http://schemas.microsoft.com/office/drawing/2014/main" id="{D97E6F9A-EB69-3DAB-85E9-5EFB2EE347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245648" y="6319111"/>
            <a:ext cx="394502" cy="349264"/>
          </a:xfrm>
          <a:prstGeom prst="rect">
            <a:avLst/>
          </a:prstGeom>
        </p:spPr>
      </p:pic>
      <p:pic>
        <p:nvPicPr>
          <p:cNvPr id="372" name="Graphic 371">
            <a:extLst>
              <a:ext uri="{FF2B5EF4-FFF2-40B4-BE49-F238E27FC236}">
                <a16:creationId xmlns:a16="http://schemas.microsoft.com/office/drawing/2014/main" id="{FD44A84C-4779-2DDE-1FA0-1723AC0507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661460" y="6319111"/>
            <a:ext cx="394502" cy="349264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68691855-CE50-283E-2026-3AA820E5990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077272" y="6319111"/>
            <a:ext cx="394502" cy="349264"/>
          </a:xfrm>
          <a:prstGeom prst="rect">
            <a:avLst/>
          </a:prstGeom>
        </p:spPr>
      </p:pic>
      <p:pic>
        <p:nvPicPr>
          <p:cNvPr id="374" name="Graphic 373">
            <a:extLst>
              <a:ext uri="{FF2B5EF4-FFF2-40B4-BE49-F238E27FC236}">
                <a16:creationId xmlns:a16="http://schemas.microsoft.com/office/drawing/2014/main" id="{7B8715CE-BA63-BC45-7E13-DD06CA62BE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493084" y="6319111"/>
            <a:ext cx="394502" cy="349264"/>
          </a:xfrm>
          <a:prstGeom prst="rect">
            <a:avLst/>
          </a:prstGeom>
        </p:spPr>
      </p:pic>
      <p:pic>
        <p:nvPicPr>
          <p:cNvPr id="375" name="Graphic 374">
            <a:extLst>
              <a:ext uri="{FF2B5EF4-FFF2-40B4-BE49-F238E27FC236}">
                <a16:creationId xmlns:a16="http://schemas.microsoft.com/office/drawing/2014/main" id="{F4D2CD5C-35A3-B153-C5BB-68B2A2E13F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908896" y="6319111"/>
            <a:ext cx="394502" cy="349264"/>
          </a:xfrm>
          <a:prstGeom prst="rect">
            <a:avLst/>
          </a:prstGeom>
        </p:spPr>
      </p:pic>
      <p:pic>
        <p:nvPicPr>
          <p:cNvPr id="376" name="Graphic 375">
            <a:extLst>
              <a:ext uri="{FF2B5EF4-FFF2-40B4-BE49-F238E27FC236}">
                <a16:creationId xmlns:a16="http://schemas.microsoft.com/office/drawing/2014/main" id="{15255662-DCC6-950D-2FE9-11CC0C81DD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324708" y="6319111"/>
            <a:ext cx="394502" cy="349264"/>
          </a:xfrm>
          <a:prstGeom prst="rect">
            <a:avLst/>
          </a:prstGeom>
        </p:spPr>
      </p:pic>
      <p:pic>
        <p:nvPicPr>
          <p:cNvPr id="377" name="Graphic 376">
            <a:extLst>
              <a:ext uri="{FF2B5EF4-FFF2-40B4-BE49-F238E27FC236}">
                <a16:creationId xmlns:a16="http://schemas.microsoft.com/office/drawing/2014/main" id="{4A5B548A-33F1-FE74-78B0-C07BDB904A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740520" y="6319111"/>
            <a:ext cx="394502" cy="349264"/>
          </a:xfrm>
          <a:prstGeom prst="rect">
            <a:avLst/>
          </a:prstGeom>
        </p:spPr>
      </p:pic>
      <p:pic>
        <p:nvPicPr>
          <p:cNvPr id="378" name="Graphic 377">
            <a:extLst>
              <a:ext uri="{FF2B5EF4-FFF2-40B4-BE49-F238E27FC236}">
                <a16:creationId xmlns:a16="http://schemas.microsoft.com/office/drawing/2014/main" id="{4327F2BB-0929-5708-BE78-C1892893B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156332" y="6319111"/>
            <a:ext cx="394502" cy="349264"/>
          </a:xfrm>
          <a:prstGeom prst="rect">
            <a:avLst/>
          </a:prstGeom>
        </p:spPr>
      </p:pic>
      <p:pic>
        <p:nvPicPr>
          <p:cNvPr id="379" name="Graphic 378">
            <a:extLst>
              <a:ext uri="{FF2B5EF4-FFF2-40B4-BE49-F238E27FC236}">
                <a16:creationId xmlns:a16="http://schemas.microsoft.com/office/drawing/2014/main" id="{0242F9DA-9355-716E-652C-474C5E9262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572144" y="6319111"/>
            <a:ext cx="394502" cy="349264"/>
          </a:xfrm>
          <a:prstGeom prst="rect">
            <a:avLst/>
          </a:prstGeom>
        </p:spPr>
      </p:pic>
      <p:pic>
        <p:nvPicPr>
          <p:cNvPr id="380" name="Graphic 379">
            <a:extLst>
              <a:ext uri="{FF2B5EF4-FFF2-40B4-BE49-F238E27FC236}">
                <a16:creationId xmlns:a16="http://schemas.microsoft.com/office/drawing/2014/main" id="{E1DB7DF1-714E-D5CB-29E6-1E90B57971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987956" y="6319111"/>
            <a:ext cx="394502" cy="349264"/>
          </a:xfrm>
          <a:prstGeom prst="rect">
            <a:avLst/>
          </a:prstGeom>
        </p:spPr>
      </p:pic>
      <p:pic>
        <p:nvPicPr>
          <p:cNvPr id="381" name="Graphic 380">
            <a:extLst>
              <a:ext uri="{FF2B5EF4-FFF2-40B4-BE49-F238E27FC236}">
                <a16:creationId xmlns:a16="http://schemas.microsoft.com/office/drawing/2014/main" id="{6E9E873E-8949-0E79-3A1E-A98AFD8B4B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403768" y="6319111"/>
            <a:ext cx="394502" cy="349264"/>
          </a:xfrm>
          <a:prstGeom prst="rect">
            <a:avLst/>
          </a:prstGeom>
        </p:spPr>
      </p:pic>
      <p:pic>
        <p:nvPicPr>
          <p:cNvPr id="382" name="Graphic 381">
            <a:extLst>
              <a:ext uri="{FF2B5EF4-FFF2-40B4-BE49-F238E27FC236}">
                <a16:creationId xmlns:a16="http://schemas.microsoft.com/office/drawing/2014/main" id="{F7DF241B-768C-FCC7-D0AE-458F6B73B2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819580" y="6319111"/>
            <a:ext cx="394502" cy="349264"/>
          </a:xfrm>
          <a:prstGeom prst="rect">
            <a:avLst/>
          </a:prstGeom>
        </p:spPr>
      </p:pic>
      <p:pic>
        <p:nvPicPr>
          <p:cNvPr id="383" name="Graphic 382">
            <a:extLst>
              <a:ext uri="{FF2B5EF4-FFF2-40B4-BE49-F238E27FC236}">
                <a16:creationId xmlns:a16="http://schemas.microsoft.com/office/drawing/2014/main" id="{FB1A0AAF-D4A3-72CF-58EB-2622F394FC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235392" y="6319111"/>
            <a:ext cx="394502" cy="349264"/>
          </a:xfrm>
          <a:prstGeom prst="rect">
            <a:avLst/>
          </a:prstGeom>
        </p:spPr>
      </p:pic>
      <p:pic>
        <p:nvPicPr>
          <p:cNvPr id="384" name="Graphic 383">
            <a:extLst>
              <a:ext uri="{FF2B5EF4-FFF2-40B4-BE49-F238E27FC236}">
                <a16:creationId xmlns:a16="http://schemas.microsoft.com/office/drawing/2014/main" id="{C5DBA88A-6C34-A9C1-42BB-1C53AEA65A0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651204" y="6319111"/>
            <a:ext cx="394502" cy="349264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9B66C949-D324-E821-1FB6-6B8F628D4B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067016" y="6319111"/>
            <a:ext cx="394502" cy="349264"/>
          </a:xfrm>
          <a:prstGeom prst="rect">
            <a:avLst/>
          </a:prstGeom>
        </p:spPr>
      </p:pic>
      <p:pic>
        <p:nvPicPr>
          <p:cNvPr id="386" name="Graphic 385">
            <a:extLst>
              <a:ext uri="{FF2B5EF4-FFF2-40B4-BE49-F238E27FC236}">
                <a16:creationId xmlns:a16="http://schemas.microsoft.com/office/drawing/2014/main" id="{761B9698-9942-5910-BB6D-DC6487093F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482828" y="6319111"/>
            <a:ext cx="394502" cy="349264"/>
          </a:xfrm>
          <a:prstGeom prst="rect">
            <a:avLst/>
          </a:prstGeom>
        </p:spPr>
      </p:pic>
      <p:pic>
        <p:nvPicPr>
          <p:cNvPr id="387" name="Graphic 386">
            <a:extLst>
              <a:ext uri="{FF2B5EF4-FFF2-40B4-BE49-F238E27FC236}">
                <a16:creationId xmlns:a16="http://schemas.microsoft.com/office/drawing/2014/main" id="{1C5A5C45-35E7-D31A-148A-2FA985F388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898640" y="6319111"/>
            <a:ext cx="394502" cy="349264"/>
          </a:xfrm>
          <a:prstGeom prst="rect">
            <a:avLst/>
          </a:prstGeom>
        </p:spPr>
      </p:pic>
      <p:pic>
        <p:nvPicPr>
          <p:cNvPr id="388" name="Graphic 387">
            <a:extLst>
              <a:ext uri="{FF2B5EF4-FFF2-40B4-BE49-F238E27FC236}">
                <a16:creationId xmlns:a16="http://schemas.microsoft.com/office/drawing/2014/main" id="{8D0DDE66-B34D-7AA7-72BA-ADAAE2B5CE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314452" y="6319111"/>
            <a:ext cx="394502" cy="349264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414AC80B-3434-EFCE-FDD3-C7CFB454C1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730264" y="6319111"/>
            <a:ext cx="394502" cy="349264"/>
          </a:xfrm>
          <a:prstGeom prst="rect">
            <a:avLst/>
          </a:prstGeom>
        </p:spPr>
      </p:pic>
      <p:pic>
        <p:nvPicPr>
          <p:cNvPr id="390" name="Graphic 389">
            <a:extLst>
              <a:ext uri="{FF2B5EF4-FFF2-40B4-BE49-F238E27FC236}">
                <a16:creationId xmlns:a16="http://schemas.microsoft.com/office/drawing/2014/main" id="{72816623-C95B-F87F-23CA-1C8CFE94E9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146076" y="6319111"/>
            <a:ext cx="394502" cy="34926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DBD52F2-2EDE-737B-C107-84758B290C1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85414" y="347060"/>
            <a:ext cx="1171623" cy="58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94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32">
          <p15:clr>
            <a:srgbClr val="FBAE40"/>
          </p15:clr>
        </p15:guide>
        <p15:guide id="7" orient="horz" pos="459">
          <p15:clr>
            <a:srgbClr val="FBAE40"/>
          </p15:clr>
        </p15:guide>
        <p15:guide id="8" orient="horz" pos="572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1026">
          <p15:clr>
            <a:srgbClr val="FBAE40"/>
          </p15:clr>
        </p15:guide>
        <p15:guide id="11" orient="horz" pos="4088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39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bg>
      <p:bgPr>
        <a:solidFill>
          <a:srgbClr val="5E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older 6">
            <a:extLst>
              <a:ext uri="{FF2B5EF4-FFF2-40B4-BE49-F238E27FC236}">
                <a16:creationId xmlns:a16="http://schemas.microsoft.com/office/drawing/2014/main" id="{72795BAE-327E-D79C-B0F3-28B5F18C8C8D}"/>
              </a:ext>
            </a:extLst>
          </p:cNvPr>
          <p:cNvSpPr txBox="1"/>
          <p:nvPr userDrawn="1"/>
        </p:nvSpPr>
        <p:spPr>
          <a:xfrm>
            <a:off x="11597065" y="6396038"/>
            <a:ext cx="286781" cy="18732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x-none"/>
            </a:defPPr>
            <a:lvl1pPr marL="0" algn="l" defTabSz="914400" rtl="0" eaLnBrk="1" latinLnBrk="0" hangingPunct="1">
              <a:defRPr sz="1000" b="0" i="0" kern="1200">
                <a:solidFill>
                  <a:srgbClr val="464875"/>
                </a:solidFill>
                <a:latin typeface="DIN Next LT Arabic" panose="020B0504030504040204" pitchFamily="34" charset="-78"/>
                <a:ea typeface="DIN Next LT Arabic"/>
                <a:cs typeface="DIN Next LT Arabic" panose="020B0504030504040204" pitchFamily="34" charset="-78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DIN Next LT Arabic"/>
                <a:ea typeface="DIN Next LT Arabic"/>
                <a:cs typeface="DIN Next LT Arabic"/>
              </a:defRPr>
            </a:lvl9pPr>
          </a:lstStyle>
          <a:p>
            <a:pPr marL="38100" algn="r" rtl="1">
              <a:lnSpc>
                <a:spcPts val="1320"/>
              </a:lnSpc>
              <a:tabLst>
                <a:tab pos="332740" algn="l"/>
              </a:tabLst>
            </a:pPr>
            <a:fld id="{40A95C50-1D06-9F4F-81CE-326FB0CC3C60}" type="slidenum">
              <a:rPr lang="en-US" sz="800" b="1" i="0" smtClean="0">
                <a:solidFill>
                  <a:schemeClr val="bg1"/>
                </a:solidFill>
                <a:latin typeface="DIN Next LT Arabic" panose="020B0603030604040103" pitchFamily="34" charset="0"/>
                <a:cs typeface="DIN Next LT Arabic" panose="02000500000000000000" pitchFamily="2" charset="-78"/>
              </a:rPr>
              <a:pPr marL="38100" algn="r" rtl="1">
                <a:lnSpc>
                  <a:spcPts val="1320"/>
                </a:lnSpc>
                <a:tabLst>
                  <a:tab pos="332740" algn="l"/>
                </a:tabLst>
              </a:pPr>
              <a:t>‹#›</a:t>
            </a:fld>
            <a:endParaRPr lang="en-US" sz="800" b="1" i="0" dirty="0">
              <a:solidFill>
                <a:schemeClr val="bg1"/>
              </a:solidFill>
              <a:latin typeface="DIN Next LT Arabic" panose="020B0603030604040103" pitchFamily="34" charset="0"/>
              <a:cs typeface="DIN Next LT Arabic" panose="02000500000000000000" pitchFamily="2" charset="-78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E3A7F70-1724-AB2B-B23E-0235FD8B0325}"/>
              </a:ext>
            </a:extLst>
          </p:cNvPr>
          <p:cNvSpPr/>
          <p:nvPr userDrawn="1"/>
        </p:nvSpPr>
        <p:spPr>
          <a:xfrm rot="5400000" flipH="1" flipV="1">
            <a:off x="3833032" y="-3124722"/>
            <a:ext cx="538515" cy="7527035"/>
          </a:xfrm>
          <a:custGeom>
            <a:avLst/>
            <a:gdLst>
              <a:gd name="csX0" fmla="*/ 538515 w 538515"/>
              <a:gd name="csY0" fmla="*/ 176593 h 7527035"/>
              <a:gd name="csX1" fmla="*/ 538515 w 538515"/>
              <a:gd name="csY1" fmla="*/ 6886968 h 7527035"/>
              <a:gd name="csX2" fmla="*/ 535466 w 538515"/>
              <a:gd name="csY2" fmla="*/ 6917214 h 7527035"/>
              <a:gd name="csX3" fmla="*/ 535466 w 538515"/>
              <a:gd name="csY3" fmla="*/ 7035446 h 7527035"/>
              <a:gd name="csX4" fmla="*/ 43876 w 538515"/>
              <a:gd name="csY4" fmla="*/ 7527035 h 7527035"/>
              <a:gd name="csX5" fmla="*/ 0 w 538515"/>
              <a:gd name="csY5" fmla="*/ 7527035 h 7527035"/>
              <a:gd name="csX6" fmla="*/ 0 w 538515"/>
              <a:gd name="csY6" fmla="*/ 6495073 h 7527035"/>
              <a:gd name="csX7" fmla="*/ 3 w 538515"/>
              <a:gd name="csY7" fmla="*/ 6495073 h 7527035"/>
              <a:gd name="csX8" fmla="*/ 3 w 538515"/>
              <a:gd name="csY8" fmla="*/ 1031962 h 7527035"/>
              <a:gd name="csX9" fmla="*/ 3 w 538515"/>
              <a:gd name="csY9" fmla="*/ 491590 h 7527035"/>
              <a:gd name="csX10" fmla="*/ 3 w 538515"/>
              <a:gd name="csY10" fmla="*/ 445849 h 7527035"/>
              <a:gd name="csX11" fmla="*/ 21163 w 538515"/>
              <a:gd name="csY11" fmla="*/ 341043 h 7527035"/>
              <a:gd name="csX12" fmla="*/ 32396 w 538515"/>
              <a:gd name="csY12" fmla="*/ 320346 h 7527035"/>
              <a:gd name="csX13" fmla="*/ 38657 w 538515"/>
              <a:gd name="csY13" fmla="*/ 300186 h 7527035"/>
              <a:gd name="csX14" fmla="*/ 491593 w 538515"/>
              <a:gd name="csY14" fmla="*/ 0 h 7527035"/>
              <a:gd name="csX15" fmla="*/ 535469 w 538515"/>
              <a:gd name="csY15" fmla="*/ 0 h 7527035"/>
              <a:gd name="csX16" fmla="*/ 535469 w 538515"/>
              <a:gd name="csY16" fmla="*/ 176593 h 7527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538515" h="7527035">
                <a:moveTo>
                  <a:pt x="538515" y="176593"/>
                </a:moveTo>
                <a:lnTo>
                  <a:pt x="538515" y="6886968"/>
                </a:lnTo>
                <a:lnTo>
                  <a:pt x="535466" y="6917214"/>
                </a:lnTo>
                <a:lnTo>
                  <a:pt x="535466" y="7035446"/>
                </a:lnTo>
                <a:cubicBezTo>
                  <a:pt x="535466" y="7307074"/>
                  <a:pt x="315217" y="7527035"/>
                  <a:pt x="43876" y="7527035"/>
                </a:cubicBezTo>
                <a:lnTo>
                  <a:pt x="0" y="7527035"/>
                </a:lnTo>
                <a:lnTo>
                  <a:pt x="0" y="6495073"/>
                </a:lnTo>
                <a:lnTo>
                  <a:pt x="3" y="6495073"/>
                </a:lnTo>
                <a:lnTo>
                  <a:pt x="3" y="1031962"/>
                </a:lnTo>
                <a:lnTo>
                  <a:pt x="3" y="491590"/>
                </a:lnTo>
                <a:lnTo>
                  <a:pt x="3" y="445849"/>
                </a:lnTo>
                <a:cubicBezTo>
                  <a:pt x="3" y="408673"/>
                  <a:pt x="7537" y="373256"/>
                  <a:pt x="21163" y="341043"/>
                </a:cubicBezTo>
                <a:lnTo>
                  <a:pt x="32396" y="320346"/>
                </a:lnTo>
                <a:lnTo>
                  <a:pt x="38657" y="300186"/>
                </a:lnTo>
                <a:cubicBezTo>
                  <a:pt x="113321" y="123728"/>
                  <a:pt x="288087" y="0"/>
                  <a:pt x="491593" y="0"/>
                </a:cubicBezTo>
                <a:lnTo>
                  <a:pt x="535469" y="0"/>
                </a:lnTo>
                <a:lnTo>
                  <a:pt x="535469" y="176593"/>
                </a:lnTo>
                <a:close/>
              </a:path>
            </a:pathLst>
          </a:custGeom>
          <a:solidFill>
            <a:srgbClr val="946CFD"/>
          </a:solidFill>
          <a:ln w="9525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US" dirty="0">
              <a:latin typeface="DIN Next LT Arabic" panose="020B0603030604040103" pitchFamily="34" charset="0"/>
              <a:cs typeface="DIN Next LT Arabic" panose="020B0603030604040103" pitchFamily="34" charset="0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8C18DDAA-C431-4517-3106-A18B327B05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34964" y="6319111"/>
            <a:ext cx="394502" cy="34926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B68DAD76-B310-5699-E1C8-E53F07CAFE6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50776" y="6319111"/>
            <a:ext cx="394502" cy="34926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D45213E5-C17D-CEA9-5DC0-A127F7BE93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66588" y="6319111"/>
            <a:ext cx="394502" cy="34926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D8235103-B402-BB42-9E4A-872A2439E2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582400" y="6319111"/>
            <a:ext cx="394502" cy="349264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0BC10AAC-5A25-A0D5-E54C-A08A7B536B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998212" y="6319111"/>
            <a:ext cx="394502" cy="34926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AA09A80-499D-F190-8C61-A7EDE75E78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414024" y="6319111"/>
            <a:ext cx="394502" cy="34926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39ED8D09-734C-A90E-82BB-EDBBE2A865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829836" y="6319111"/>
            <a:ext cx="394502" cy="34926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A8F49265-11EE-6E0F-1DE5-914FF6B5DE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245648" y="6319111"/>
            <a:ext cx="394502" cy="34926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FACBCD6-18B9-960F-E5CF-C909306A97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661460" y="6319111"/>
            <a:ext cx="394502" cy="349264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5506B409-4A98-686C-9B14-AD7143A9B2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077272" y="6319111"/>
            <a:ext cx="394502" cy="34926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6DCD6EDB-FBD1-3A88-1C89-1BC83755A1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493084" y="6319111"/>
            <a:ext cx="394502" cy="349264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50300CE-371B-6BA7-0691-B7CADE95CC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908896" y="6319111"/>
            <a:ext cx="394502" cy="349264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9D3AF542-56C1-9C0D-1EE4-57BF4CA466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324708" y="6319111"/>
            <a:ext cx="394502" cy="349264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C3940D1C-88CA-2F7E-8F48-C0C987AB12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740520" y="6319111"/>
            <a:ext cx="394502" cy="349264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12D9E124-CD51-034E-D00F-85D6091E96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156332" y="6319111"/>
            <a:ext cx="394502" cy="349264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92DAEAF3-EE77-7426-A359-358996799F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572144" y="6319111"/>
            <a:ext cx="394502" cy="349264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20260B13-32CD-9F4A-8C87-32A387C7F4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987956" y="6319111"/>
            <a:ext cx="394502" cy="34926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287BCDB-1648-4A71-5B6B-ED52B65982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403768" y="6319111"/>
            <a:ext cx="394502" cy="349264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086D2582-9A92-AFCA-F693-3230990EF6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819580" y="6319111"/>
            <a:ext cx="394502" cy="349264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E39DE177-8B61-3EB3-812F-3718620157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235392" y="6319111"/>
            <a:ext cx="394502" cy="349264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7C9298AE-65AB-C23F-E875-760765A0DF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651204" y="6319111"/>
            <a:ext cx="394502" cy="349264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941F4E33-AEBF-E6A7-6FB4-1BA40DD5435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067016" y="6319111"/>
            <a:ext cx="394502" cy="349264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6E3CA728-F3F7-D4FB-C4C6-B5F3B1E8E7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482828" y="6319111"/>
            <a:ext cx="394502" cy="349264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E69F99AB-976A-8451-4810-38133DB934B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898640" y="6319111"/>
            <a:ext cx="394502" cy="349264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C115045F-3528-4EF8-B19E-E276F2873F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314452" y="6319111"/>
            <a:ext cx="394502" cy="349264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6E4AAC68-9A81-E310-863A-73B0D95979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730264" y="6319111"/>
            <a:ext cx="394502" cy="349264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B9436BB7-CC51-44A8-7FF0-64C7499850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146076" y="6319111"/>
            <a:ext cx="394502" cy="3492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B9B7C4-DA65-4803-2AE3-BFE12075D7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415" y="347060"/>
            <a:ext cx="1171623" cy="58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87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32">
          <p15:clr>
            <a:srgbClr val="FBAE40"/>
          </p15:clr>
        </p15:guide>
        <p15:guide id="7" orient="horz" pos="459">
          <p15:clr>
            <a:srgbClr val="FBAE40"/>
          </p15:clr>
        </p15:guide>
        <p15:guide id="8" orient="horz" pos="572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1026">
          <p15:clr>
            <a:srgbClr val="FBAE40"/>
          </p15:clr>
        </p15:guide>
        <p15:guide id="11" orient="horz" pos="4088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397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bg>
      <p:bgPr>
        <a:gradFill flip="none" rotWithShape="1">
          <a:gsLst>
            <a:gs pos="25000">
              <a:srgbClr val="5E2EE8"/>
            </a:gs>
            <a:gs pos="100000">
              <a:srgbClr val="946CFD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A8E712-E7BB-652D-B4FC-7703B0C32F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415" y="347060"/>
            <a:ext cx="1171623" cy="58581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2BDED44-FB1C-A04B-45E4-B73B6E8732F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34964" y="6319111"/>
            <a:ext cx="394502" cy="34926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7E3AC66-DE5B-AA25-66FC-F3058EC735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50776" y="6319111"/>
            <a:ext cx="394502" cy="34926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4957088-56EF-4E36-BD9F-C7AE11749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66588" y="6319111"/>
            <a:ext cx="394502" cy="34926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B914A1C-169C-7AFC-66AA-1D1EB54310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582400" y="6319111"/>
            <a:ext cx="394502" cy="34926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7ACB7C06-C5AF-145E-E363-AA73063A3D7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998212" y="6319111"/>
            <a:ext cx="394502" cy="34926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E009817-365F-22E1-9829-43220EB7A8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414024" y="6319111"/>
            <a:ext cx="394502" cy="34926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E5BB543-6555-8BF3-7E8E-D1A08D0044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2829836" y="6319111"/>
            <a:ext cx="394502" cy="34926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8021CB1-B072-07E5-C1EB-0B308A5A14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245648" y="6319111"/>
            <a:ext cx="394502" cy="349264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6763262-358A-C2B1-A5AE-37F6155B46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3661460" y="6319111"/>
            <a:ext cx="394502" cy="349264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51C2B5A-6550-E2E4-80D7-A2538A61D5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077272" y="6319111"/>
            <a:ext cx="394502" cy="34926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03419DCF-2E42-F80F-6911-565CCC8563C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493084" y="6319111"/>
            <a:ext cx="394502" cy="3492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F6DA5B3-94E9-DBC4-350A-8A49EAA51B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4908896" y="6319111"/>
            <a:ext cx="394502" cy="34926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BCB49EA-AC45-BF79-8633-8F3C49AABF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324708" y="6319111"/>
            <a:ext cx="394502" cy="34926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7C28BC70-6B63-2079-AA17-4A87CF168E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5740520" y="6319111"/>
            <a:ext cx="394502" cy="349264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6AE7509-1D90-6D79-4892-6227630EA6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156332" y="6319111"/>
            <a:ext cx="394502" cy="349264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B6975932-B31E-F003-3EC6-C8D17D6C86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572144" y="6319111"/>
            <a:ext cx="394502" cy="349264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FBF39C11-C85D-DB65-F696-D521B15F954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6987956" y="6319111"/>
            <a:ext cx="394502" cy="349264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1CABDB30-2BB0-E26A-68C6-EDE1DC3429C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403768" y="6319111"/>
            <a:ext cx="394502" cy="34926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611DBA0-5E75-96C2-D959-CBF1E0EC3E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7819580" y="6319111"/>
            <a:ext cx="394502" cy="349264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828EF79-F019-8A94-1FB9-45A04BD7AD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235392" y="6319111"/>
            <a:ext cx="394502" cy="349264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80C31B56-3B40-976E-C2A6-36E558BFB3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8651204" y="6319111"/>
            <a:ext cx="394502" cy="349264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9667DAB5-DF2F-55DA-285D-013FF79B6E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067016" y="6319111"/>
            <a:ext cx="394502" cy="34926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FA3BC53A-EDB7-E0B8-6FC7-81901FFA68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482828" y="6319111"/>
            <a:ext cx="394502" cy="34926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249F84E-B3AB-48A1-1F75-1F518AB4B5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9898640" y="6319111"/>
            <a:ext cx="394502" cy="34926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A9E33FD-7115-34CE-7DCE-D9DE3F813A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314452" y="6319111"/>
            <a:ext cx="394502" cy="349264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85F123AA-B7C4-4090-8707-37F71AC38E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0730264" y="6319111"/>
            <a:ext cx="394502" cy="349264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01CC5E51-7C08-A633-8E8C-8FBA034658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0475" t="40446" r="50000" b="43083"/>
          <a:stretch>
            <a:fillRect/>
          </a:stretch>
        </p:blipFill>
        <p:spPr>
          <a:xfrm>
            <a:off x="11146076" y="6319111"/>
            <a:ext cx="394502" cy="34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3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32">
          <p15:clr>
            <a:srgbClr val="FBAE40"/>
          </p15:clr>
        </p15:guide>
        <p15:guide id="7" orient="horz" pos="459">
          <p15:clr>
            <a:srgbClr val="FBAE40"/>
          </p15:clr>
        </p15:guide>
        <p15:guide id="8" orient="horz" pos="572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1026">
          <p15:clr>
            <a:srgbClr val="FBAE40"/>
          </p15:clr>
        </p15:guide>
        <p15:guide id="11" orient="horz" pos="4088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3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Pr>
        <a:solidFill>
          <a:srgbClr val="5E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raphic 343">
            <a:extLst>
              <a:ext uri="{FF2B5EF4-FFF2-40B4-BE49-F238E27FC236}">
                <a16:creationId xmlns:a16="http://schemas.microsoft.com/office/drawing/2014/main" id="{9359D608-3D5B-5327-F65D-72EEDEC7E1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184" t="38917" r="14475" b="41959"/>
          <a:stretch>
            <a:fillRect/>
          </a:stretch>
        </p:blipFill>
        <p:spPr>
          <a:xfrm>
            <a:off x="0" y="0"/>
            <a:ext cx="12191999" cy="36334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73ABA3-5920-9AE5-4F5E-8949FE1BBE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137" y="1251092"/>
            <a:ext cx="2103726" cy="10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6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46">
          <p15:clr>
            <a:srgbClr val="FBAE40"/>
          </p15:clr>
        </p15:guide>
        <p15:guide id="6" orient="horz" pos="232">
          <p15:clr>
            <a:srgbClr val="FBAE40"/>
          </p15:clr>
        </p15:guide>
        <p15:guide id="7" orient="horz" pos="459">
          <p15:clr>
            <a:srgbClr val="FBAE40"/>
          </p15:clr>
        </p15:guide>
        <p15:guide id="8" orient="horz" pos="572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1026">
          <p15:clr>
            <a:srgbClr val="FBAE40"/>
          </p15:clr>
        </p15:guide>
        <p15:guide id="11" orient="horz" pos="4088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53EBA-390F-B64A-E160-9023EFA21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6D1BFB-197A-F30B-5954-FD1BBB988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E53B6-8863-AD79-C90C-76476652F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DIN Next LT Arabic" panose="020B0603030604040103" pitchFamily="34" charset="0"/>
                <a:cs typeface="DIN Next LT Arabic" panose="020B0603030604040103" pitchFamily="34" charset="0"/>
              </a:defRPr>
            </a:lvl1pPr>
          </a:lstStyle>
          <a:p>
            <a:fld id="{DD6B9AD8-98DF-436A-B40F-C3FAA389707A}" type="datetimeFigureOut">
              <a:rPr lang="en-US" smtClean="0"/>
              <a:pPr/>
              <a:t>7/8/2026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186B5-FB6C-B3AC-23DC-C0E94552F8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DIN Next LT Arabic" panose="020B0603030604040103" pitchFamily="34" charset="0"/>
                <a:cs typeface="DIN Next LT Arabic" panose="020B06030306040401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FE9EE-02B9-FA3C-EFFC-44A540C8E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DIN Next LT Arabic" panose="020B0603030604040103" pitchFamily="34" charset="0"/>
                <a:cs typeface="DIN Next LT Arabic" panose="020B0603030604040103" pitchFamily="34" charset="0"/>
              </a:defRPr>
            </a:lvl1pPr>
          </a:lstStyle>
          <a:p>
            <a:fld id="{86DB89C4-3221-458B-8283-E859AB87048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00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6" r:id="rId2"/>
    <p:sldLayoutId id="2147483687" r:id="rId3"/>
    <p:sldLayoutId id="2147483688" r:id="rId4"/>
    <p:sldLayoutId id="2147483689" r:id="rId5"/>
    <p:sldLayoutId id="214748369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IN Next LT Arabic" panose="020B0603030604040103" pitchFamily="34" charset="0"/>
          <a:ea typeface="DIN Next LT Arabic"/>
          <a:cs typeface="DIN Next LT Arabic" panose="020B06030306040401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DIN Next LT Arabic" panose="020B0603030604040103" pitchFamily="34" charset="0"/>
          <a:ea typeface="DIN Next LT Arabic"/>
          <a:cs typeface="DIN Next LT Arabic" panose="020B06030306040401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DIN Next LT Arabic" panose="020B0603030604040103" pitchFamily="34" charset="0"/>
          <a:ea typeface="DIN Next LT Arabic"/>
          <a:cs typeface="DIN Next LT Arabic" panose="020B06030306040401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DIN Next LT Arabic" panose="020B0603030604040103" pitchFamily="34" charset="0"/>
          <a:ea typeface="DIN Next LT Arabic"/>
          <a:cs typeface="DIN Next LT Arabic" panose="020B06030306040401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 Next LT Arabic" panose="020B0603030604040103" pitchFamily="34" charset="0"/>
          <a:ea typeface="DIN Next LT Arabic"/>
          <a:cs typeface="DIN Next LT Arabic" panose="020B06030306040401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 Next LT Arabic" panose="020B0603030604040103" pitchFamily="34" charset="0"/>
          <a:ea typeface="DIN Next LT Arabic"/>
          <a:cs typeface="DIN Next LT Arabic" panose="020B06030306040401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DIN Next LT Arabic"/>
          <a:ea typeface="DIN Next LT Arabic"/>
          <a:cs typeface="DIN Next LT Arab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584DEA-B111-A863-6115-B6223DFAF76B}"/>
              </a:ext>
            </a:extLst>
          </p:cNvPr>
          <p:cNvSpPr txBox="1"/>
          <p:nvPr/>
        </p:nvSpPr>
        <p:spPr>
          <a:xfrm>
            <a:off x="4974336" y="4837176"/>
            <a:ext cx="334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dirty="0">
                <a:solidFill>
                  <a:schemeClr val="bg1"/>
                </a:solidFill>
              </a:rPr>
              <a:t>08/07/2026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06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4921C0-928D-D573-1D4C-76005AAA58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940610"/>
              </p:ext>
            </p:extLst>
          </p:nvPr>
        </p:nvGraphicFramePr>
        <p:xfrm>
          <a:off x="395509" y="1175657"/>
          <a:ext cx="11400981" cy="4933244"/>
        </p:xfrm>
        <a:graphic>
          <a:graphicData uri="http://schemas.openxmlformats.org/drawingml/2006/table">
            <a:tbl>
              <a:tblPr/>
              <a:tblGrid>
                <a:gridCol w="4009745">
                  <a:extLst>
                    <a:ext uri="{9D8B030D-6E8A-4147-A177-3AD203B41FA5}">
                      <a16:colId xmlns:a16="http://schemas.microsoft.com/office/drawing/2014/main" val="4125605261"/>
                    </a:ext>
                  </a:extLst>
                </a:gridCol>
                <a:gridCol w="905426">
                  <a:extLst>
                    <a:ext uri="{9D8B030D-6E8A-4147-A177-3AD203B41FA5}">
                      <a16:colId xmlns:a16="http://schemas.microsoft.com/office/drawing/2014/main" val="323843029"/>
                    </a:ext>
                  </a:extLst>
                </a:gridCol>
                <a:gridCol w="1034773">
                  <a:extLst>
                    <a:ext uri="{9D8B030D-6E8A-4147-A177-3AD203B41FA5}">
                      <a16:colId xmlns:a16="http://schemas.microsoft.com/office/drawing/2014/main" val="2410765425"/>
                    </a:ext>
                  </a:extLst>
                </a:gridCol>
                <a:gridCol w="1422813">
                  <a:extLst>
                    <a:ext uri="{9D8B030D-6E8A-4147-A177-3AD203B41FA5}">
                      <a16:colId xmlns:a16="http://schemas.microsoft.com/office/drawing/2014/main" val="2709736750"/>
                    </a:ext>
                  </a:extLst>
                </a:gridCol>
                <a:gridCol w="2328239">
                  <a:extLst>
                    <a:ext uri="{9D8B030D-6E8A-4147-A177-3AD203B41FA5}">
                      <a16:colId xmlns:a16="http://schemas.microsoft.com/office/drawing/2014/main" val="2596297838"/>
                    </a:ext>
                  </a:extLst>
                </a:gridCol>
                <a:gridCol w="613473">
                  <a:extLst>
                    <a:ext uri="{9D8B030D-6E8A-4147-A177-3AD203B41FA5}">
                      <a16:colId xmlns:a16="http://schemas.microsoft.com/office/drawing/2014/main" val="3609272648"/>
                    </a:ext>
                  </a:extLst>
                </a:gridCol>
                <a:gridCol w="1086512">
                  <a:extLst>
                    <a:ext uri="{9D8B030D-6E8A-4147-A177-3AD203B41FA5}">
                      <a16:colId xmlns:a16="http://schemas.microsoft.com/office/drawing/2014/main" val="167592807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j-lt"/>
                        </a:rPr>
                        <a:t>ملاحظات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j-lt"/>
                        </a:rPr>
                        <a:t>نسبة الإنجاز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j-lt"/>
                        </a:rPr>
                        <a:t>الحالة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التاريخ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المستهدف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+mj-lt"/>
                        </a:rPr>
                        <a:t>المرحلة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المنتج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b="1" dirty="0">
                          <a:solidFill>
                            <a:srgbClr val="FFFFFF"/>
                          </a:solidFill>
                          <a:latin typeface="+mj-lt"/>
                        </a:rPr>
                        <a:t>البنك/ جهة التمويل</a:t>
                      </a:r>
                      <a:endParaRPr lang="en-US" sz="1000" b="1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213075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حصل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جيبي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عدم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ممانعة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ar-SA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95</a:t>
                      </a:r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%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  <a:endParaRPr lang="en-US" sz="1000" b="1" dirty="0">
                        <a:solidFill>
                          <a:srgbClr val="0F8B4C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24/08/2025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الحصول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عدم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الممانعة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Dubai" panose="020B0503030403030204" pitchFamily="34" charset="-78"/>
                        </a:rPr>
                        <a:t>E1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(J-B)</a:t>
                      </a:r>
                      <a:br>
                        <a:rPr lang="ar-SA" sz="1000" b="1" dirty="0">
                          <a:solidFill>
                            <a:srgbClr val="1C1340"/>
                          </a:solidFill>
                          <a:latin typeface="+mj-lt"/>
                        </a:rPr>
                      </a:br>
                      <a:r>
                        <a:rPr lang="ar-SA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جيبي</a:t>
                      </a:r>
                      <a:endParaRPr lang="en-US" sz="10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1583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تم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الانتهاء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من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تحليل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الأعمال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15/05/2026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تحليل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الأعمال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33934444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ar-SA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تم الانتهاء من التطوير التقني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30/05/2026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التطوير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التقني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65606314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TBD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000" b="1" dirty="0">
                          <a:solidFill>
                            <a:schemeClr val="tx1"/>
                          </a:solidFill>
                          <a:latin typeface="+mj-lt"/>
                        </a:rPr>
                        <a:t>قيد العمل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15/07/2026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الاختبارات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57597803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ar-SA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تم الانتهاء من تحليل الأعمال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100%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  <a:endParaRPr lang="en-US" sz="1000" b="1" dirty="0">
                        <a:solidFill>
                          <a:srgbClr val="0F8B4C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10/02/2026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تحليل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الأعمال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Dubai" panose="020B0503030403030204" pitchFamily="34" charset="-78"/>
                        </a:rPr>
                        <a:t>E1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النايفات</a:t>
                      </a:r>
                      <a:endParaRPr lang="en-US" sz="10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04868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تم الانتهاء من التطوير التقني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  <a:endParaRPr lang="en-US" sz="1000" b="1" dirty="0">
                        <a:solidFill>
                          <a:srgbClr val="0F8B4C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26/02/2026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التطوير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التقني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69591543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تم الانتهاء من الأختبارات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00" b="1" kern="1200" dirty="0" err="1">
                          <a:solidFill>
                            <a:srgbClr val="0F8B4C"/>
                          </a:solidFill>
                          <a:latin typeface="+mn-lt"/>
                          <a:ea typeface="+mn-ea"/>
                          <a:cs typeface="+mn-cs"/>
                        </a:rPr>
                        <a:t>مكتمل</a:t>
                      </a:r>
                      <a:endParaRPr lang="en-US" sz="1000" b="1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23/06/2026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الاختبارات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993954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ar-SA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حصلت النايفات على عدم الممانعة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  <a:endParaRPr lang="en-US" sz="1000" b="1" dirty="0">
                        <a:solidFill>
                          <a:srgbClr val="0F8B4C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30/04/2026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الحصول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عدم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ممانعة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62551879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kern="1200" dirty="0">
                          <a:solidFill>
                            <a:srgbClr val="1C1340"/>
                          </a:solidFill>
                          <a:latin typeface="+mn-lt"/>
                          <a:ea typeface="+mn-ea"/>
                          <a:cs typeface="+mn-cs"/>
                        </a:rPr>
                        <a:t>تم الانتهاء من تحليل الأعمال</a:t>
                      </a:r>
                      <a:endParaRPr lang="en-US" sz="1000" b="0" kern="1200" dirty="0">
                        <a:solidFill>
                          <a:srgbClr val="1C13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70%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26/02/2024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تحليل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الأعمال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Dubai" panose="020B0503030403030204" pitchFamily="34" charset="-78"/>
                        </a:rPr>
                        <a:t>E1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بنك</a:t>
                      </a:r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الرياض</a:t>
                      </a:r>
                      <a:endParaRPr lang="en-US" sz="10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7058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kern="1200" dirty="0">
                          <a:solidFill>
                            <a:srgbClr val="1C1340"/>
                          </a:solidFill>
                          <a:latin typeface="+mn-lt"/>
                          <a:ea typeface="+mn-ea"/>
                          <a:cs typeface="+mn-cs"/>
                        </a:rPr>
                        <a:t>تم الانتهاء من التطوير التقني</a:t>
                      </a:r>
                      <a:endParaRPr lang="en-US" sz="1000" b="0" kern="1200" dirty="0">
                        <a:solidFill>
                          <a:srgbClr val="1C134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24/08/2025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التطوير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التقني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75193476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24/08/2025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الاختبارات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4054855775"/>
                  </a:ext>
                </a:extLst>
              </a:tr>
              <a:tr h="266700">
                <a:tc rowSpan="2"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أفادنا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البنك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بأن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سيتم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تطوير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طلب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التغيير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بعد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حصول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الشركة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الرخصة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،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وبعد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حصول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البنك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عدم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ممانعة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البنك المركزي.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قيد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العمل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TBD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تطوير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طلب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التغيير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503698017"/>
                  </a:ext>
                </a:extLst>
              </a:tr>
              <a:tr h="266700">
                <a:tc vMerge="1">
                  <a:txBody>
                    <a:bodyPr/>
                    <a:lstStyle/>
                    <a:p>
                      <a:pPr algn="ctr"/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قيد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العمل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TBD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الحصول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عدم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ممانعة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24305303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ar-SA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تم الانتهاء من تحليل الأعمال 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60%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13/05/2024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تحليل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الأعمال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Dubai" panose="020B0503030403030204" pitchFamily="34" charset="-78"/>
                        </a:rPr>
                        <a:t>E1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مصرف</a:t>
                      </a:r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الراجحي</a:t>
                      </a:r>
                      <a:endParaRPr lang="en-US" sz="10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66353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ar-SA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تم الانتهاء من التطوير التقني 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>
                          <a:solidFill>
                            <a:srgbClr val="0F8B4C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30/10/2025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التطوير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التقني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98120662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أفادنا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البنك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بأن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سيتم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البدء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باختبارات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ما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قبل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الإطلاق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بعد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حصول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البنك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عدم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ممانعة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البنك المركزي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قيد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العمل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TBD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الاختبارات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72115786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/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قيد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+mj-lt"/>
                        </a:rPr>
                        <a:t>العمل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>
                          <a:solidFill>
                            <a:srgbClr val="1C1340"/>
                          </a:solidFill>
                          <a:latin typeface="+mj-lt"/>
                        </a:rPr>
                        <a:t>TBD</a:t>
                      </a: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الحصول على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عدم</a:t>
                      </a:r>
                      <a:r>
                        <a:rPr lang="en-US" sz="10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ممانعة</a:t>
                      </a:r>
                      <a:endParaRPr lang="en-US" sz="10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marT="14111" marB="14111" anchor="ctr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T="14111" marB="14111">
                    <a:lnL w="9525" cap="flat" cmpd="sng" algn="ctr">
                      <a:solidFill>
                        <a:srgbClr val="1C1340"/>
                      </a:solidFill>
                      <a:round/>
                    </a:lnL>
                    <a:lnR w="9525" cap="flat" cmpd="sng" algn="ctr">
                      <a:solidFill>
                        <a:srgbClr val="1C1340"/>
                      </a:solidFill>
                      <a:round/>
                    </a:lnR>
                    <a:lnT w="9525" cap="flat" cmpd="sng" algn="ctr">
                      <a:solidFill>
                        <a:srgbClr val="1C1340"/>
                      </a:solidFill>
                      <a:round/>
                    </a:lnT>
                    <a:lnB w="9525" cap="flat" cmpd="sng" algn="ctr">
                      <a:solidFill>
                        <a:srgbClr val="1C1340"/>
                      </a:solidFill>
                      <a:round/>
                    </a:lnB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1714651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988F3F-B6BF-7981-FAA5-9A9B6F92E9E8}"/>
              </a:ext>
            </a:extLst>
          </p:cNvPr>
          <p:cNvSpPr txBox="1"/>
          <p:nvPr/>
        </p:nvSpPr>
        <p:spPr>
          <a:xfrm>
            <a:off x="1099457" y="4853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ar-SA" b="1" dirty="0">
                <a:solidFill>
                  <a:schemeClr val="bg1"/>
                </a:solidFill>
                <a:latin typeface="+mj-lt"/>
              </a:rPr>
              <a:t>حالة التكامل مع الجهات التمويلية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ar-SA" b="1" dirty="0">
                <a:solidFill>
                  <a:schemeClr val="bg1"/>
                </a:solidFill>
                <a:latin typeface="+mj-lt"/>
              </a:rPr>
              <a:t> (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1</a:t>
            </a:r>
            <a:r>
              <a:rPr lang="ar-SA" b="1" dirty="0">
                <a:solidFill>
                  <a:schemeClr val="bg1"/>
                </a:solidFill>
                <a:latin typeface="+mj-lt"/>
              </a:rPr>
              <a:t>\4) 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5087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768CD9-6172-906C-6F45-081DB504D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643254"/>
              </p:ext>
            </p:extLst>
          </p:nvPr>
        </p:nvGraphicFramePr>
        <p:xfrm>
          <a:off x="508000" y="1016000"/>
          <a:ext cx="11103292" cy="5336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91353297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4926182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0501947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992942986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009234183"/>
                    </a:ext>
                  </a:extLst>
                </a:gridCol>
                <a:gridCol w="562292">
                  <a:extLst>
                    <a:ext uri="{9D8B030D-6E8A-4147-A177-3AD203B41FA5}">
                      <a16:colId xmlns:a16="http://schemas.microsoft.com/office/drawing/2014/main" val="96829328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4106161463"/>
                    </a:ext>
                  </a:extLst>
                </a:gridCol>
              </a:tblGrid>
              <a:tr h="416565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>
                          <a:solidFill>
                            <a:srgbClr val="FFFFFF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ملاحظات</a:t>
                      </a:r>
                      <a:endParaRPr lang="en-SA" sz="1100" b="1">
                        <a:solidFill>
                          <a:srgbClr val="FFFFFF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T w="9525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>
                          <a:solidFill>
                            <a:srgbClr val="FFFFFF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نسبة الإنجاز</a:t>
                      </a:r>
                      <a:endParaRPr lang="en-SA" sz="1100" b="1">
                        <a:solidFill>
                          <a:srgbClr val="FFFFFF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T w="9525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>
                          <a:solidFill>
                            <a:srgbClr val="FFFFFF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الحالة</a:t>
                      </a:r>
                      <a:endParaRPr lang="en-SA" sz="1100" b="1">
                        <a:solidFill>
                          <a:srgbClr val="FFFFFF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T w="9525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>
                          <a:solidFill>
                            <a:srgbClr val="FFFFFF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التاريخ المستهدف</a:t>
                      </a:r>
                      <a:endParaRPr lang="en-SA" sz="1100" b="1">
                        <a:solidFill>
                          <a:srgbClr val="FFFFFF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T w="9525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>
                          <a:solidFill>
                            <a:srgbClr val="FFFFFF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المرحلة</a:t>
                      </a:r>
                      <a:endParaRPr lang="en-SA" sz="1100" b="1">
                        <a:solidFill>
                          <a:srgbClr val="FFFFFF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T w="9525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>
                          <a:solidFill>
                            <a:srgbClr val="FFFFFF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المنتج</a:t>
                      </a:r>
                      <a:endParaRPr lang="en-SA" sz="1100" b="1">
                        <a:solidFill>
                          <a:srgbClr val="FFFFFF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T w="9525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100" b="1">
                          <a:solidFill>
                            <a:srgbClr val="FFFFFF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البنك / جهة التمويل</a:t>
                      </a:r>
                      <a:endParaRPr lang="en-SA" sz="1100" b="1">
                        <a:solidFill>
                          <a:srgbClr val="FFFFFF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T w="9525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44964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" panose="020B0803020203050203" pitchFamily="34" charset="-78"/>
                          <a:ea typeface="+mn-ea"/>
                          <a:cs typeface="DIN Next LT Arabic" panose="020B0803020203050203" pitchFamily="34" charset="-78"/>
                        </a:rPr>
                        <a:t>جاري العمل على توقيع العقود لبدء الأعمال,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" panose="020B0803020203050203" pitchFamily="34" charset="-78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20%</a:t>
                      </a:r>
                      <a:endParaRPr lang="en-SA" sz="1000" b="1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chemeClr val="tx1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dirty="0">
                        <a:solidFill>
                          <a:schemeClr val="tx1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rgbClr val="1C1340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07/07/2026</a:t>
                      </a:r>
                      <a:endParaRPr lang="en-SA" sz="1000" dirty="0">
                        <a:solidFill>
                          <a:srgbClr val="1C1340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الاتفاقية  </a:t>
                      </a:r>
                      <a:endParaRPr lang="en-SA" sz="1000" dirty="0">
                        <a:solidFill>
                          <a:srgbClr val="1C1340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100" b="1" dirty="0">
                          <a:solidFill>
                            <a:srgbClr val="1C1340"/>
                          </a:solidFill>
                          <a:latin typeface="DIN Next LT Arabic (Headings)"/>
                          <a:cs typeface="Dubai" panose="020B0503030403030204" pitchFamily="34" charset="-78"/>
                        </a:rPr>
                        <a:t>S3</a:t>
                      </a:r>
                      <a:endParaRPr lang="en-SA" sz="1100" b="1" dirty="0">
                        <a:solidFill>
                          <a:srgbClr val="1C1340"/>
                        </a:solidFill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b="1" dirty="0">
                          <a:solidFill>
                            <a:srgbClr val="1C1340"/>
                          </a:solidFill>
                          <a:latin typeface="DIN Next LT Arabic (Headings)"/>
                        </a:rPr>
                        <a:t>مصرف الانماء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488978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" panose="020B0803020203050203" pitchFamily="34" charset="-78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dirty="0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1C1340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 dirty="0">
                        <a:solidFill>
                          <a:srgbClr val="1C1340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تحليل الأعمال</a:t>
                      </a:r>
                      <a:endParaRPr lang="en-SA" sz="1000" dirty="0">
                        <a:solidFill>
                          <a:srgbClr val="1C1340"/>
                        </a:solidFill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C1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286363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4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dirty="0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958711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dirty="0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66917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الحصول على عدم ممانعة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66395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تم البدء بتحليل الأعمال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40%</a:t>
                      </a:r>
                      <a:endParaRPr lang="en-SA" sz="1000" b="1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dirty="0">
                        <a:solidFill>
                          <a:schemeClr val="tx1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1</a:t>
                      </a:r>
                      <a:r>
                        <a:rPr lang="en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0/0</a:t>
                      </a: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7</a:t>
                      </a:r>
                      <a:r>
                        <a:rPr lang="en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/2026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dirty="0">
                          <a:solidFill>
                            <a:srgbClr val="1C1340"/>
                          </a:solidFill>
                          <a:latin typeface="DIN Next LT Arabic (Headings)"/>
                          <a:cs typeface="Dubai" panose="020B0503030403030204" pitchFamily="34" charset="-78"/>
                        </a:rPr>
                        <a:t>S3</a:t>
                      </a:r>
                      <a:endParaRPr lang="en-SA" sz="1100" b="1" dirty="0">
                        <a:solidFill>
                          <a:srgbClr val="1C1340"/>
                        </a:solidFill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b="1" dirty="0">
                          <a:solidFill>
                            <a:srgbClr val="1C1340"/>
                          </a:solidFill>
                          <a:latin typeface="DIN Next LT Arabic (Headings)"/>
                        </a:rPr>
                        <a:t>البنك الأهلي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211188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4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209473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dirty="0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143957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الحصول على عدم ممانعة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251834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مراجعة الاتفاقية لدى القانونية في البنك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20</a:t>
                      </a:r>
                      <a:r>
                        <a:rPr lang="en-US" sz="1000" b="1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%</a:t>
                      </a:r>
                      <a:endParaRPr lang="en-SA" sz="1000" b="1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dirty="0">
                        <a:solidFill>
                          <a:schemeClr val="tx1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30/04/2026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الاتفاقية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1C1340"/>
                          </a:solidFill>
                          <a:latin typeface="DIN Next LT Arabic (Headings)"/>
                        </a:rPr>
                        <a:t>S3</a:t>
                      </a:r>
                      <a:endParaRPr lang="en-SA" sz="1100" b="1" dirty="0">
                        <a:solidFill>
                          <a:srgbClr val="1C1340"/>
                        </a:solidFill>
                        <a:latin typeface="DIN Next LT Arabic (Headings)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100" b="1" dirty="0">
                          <a:solidFill>
                            <a:srgbClr val="1C1340"/>
                          </a:solidFill>
                          <a:latin typeface="DIN Next LT Arabic (Headings)"/>
                        </a:rPr>
                        <a:t>مصرف الراجحي</a:t>
                      </a:r>
                      <a:endParaRPr lang="en-SA" sz="1100" b="1" dirty="0">
                        <a:solidFill>
                          <a:srgbClr val="1C1340"/>
                        </a:solidFill>
                        <a:latin typeface="DIN Next LT Arabic (Headings)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9803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 ,</a:t>
                      </a: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 تم الاجتماع لتحليل المتطلبات لدى البنك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4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dirty="0">
                        <a:solidFill>
                          <a:schemeClr val="tx1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07/07/2026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r" defTabSz="914400" rtl="1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784231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34461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83741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>
                          <a:solidFill>
                            <a:srgbClr val="6B728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الحصول على عدم ممانعة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064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بانتظار التواصل من قبل البنك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10%</a:t>
                      </a:r>
                      <a:endParaRPr lang="en-SA" sz="1000" b="1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dirty="0">
                        <a:solidFill>
                          <a:schemeClr val="tx1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0</a:t>
                      </a:r>
                      <a:r>
                        <a:rPr lang="ar-SA" sz="1000" kern="12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5</a:t>
                      </a:r>
                      <a:r>
                        <a:rPr lang="en-US" sz="1000" kern="12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/30/2026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دراسة الفرصة وعرضها على البنك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1C1340"/>
                          </a:solidFill>
                          <a:latin typeface="DIN Next LT Arabic (Headings)"/>
                        </a:rPr>
                        <a:t>E1</a:t>
                      </a:r>
                      <a:endParaRPr lang="en-SA" sz="1100" b="1" dirty="0">
                        <a:solidFill>
                          <a:srgbClr val="1C1340"/>
                        </a:solidFill>
                        <a:latin typeface="DIN Next LT Arabic (Headings)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1C1340"/>
                          </a:solidFill>
                          <a:latin typeface="DIN Next LT Arabic (Headings)"/>
                        </a:rPr>
                        <a:t>STC </a:t>
                      </a:r>
                      <a:r>
                        <a:rPr lang="ar-SA" sz="1100" b="1" dirty="0">
                          <a:solidFill>
                            <a:srgbClr val="1C1340"/>
                          </a:solidFill>
                          <a:latin typeface="DIN Next LT Arabic (Headings)"/>
                        </a:rPr>
                        <a:t>بنك</a:t>
                      </a: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918868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 dirty="0">
                        <a:solidFill>
                          <a:srgbClr val="6B7280"/>
                        </a:solidFill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F1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36681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17634"/>
                  </a:ext>
                </a:extLst>
              </a:tr>
              <a:tr h="2727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>
                        <a:solidFill>
                          <a:srgbClr val="6B7280"/>
                        </a:solidFill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9525">
                      <a:solidFill>
                        <a:srgbClr val="1C134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solidFill>
                            <a:srgbClr val="1C1340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 dirty="0">
                        <a:solidFill>
                          <a:srgbClr val="1C1340"/>
                        </a:solidFill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1C1340"/>
                      </a:solidFill>
                    </a:lnL>
                    <a:lnR w="9525" cap="flat" cmpd="sng" algn="ctr">
                      <a:solidFill>
                        <a:srgbClr val="1C1340"/>
                      </a:solidFill>
                    </a:lnR>
                    <a:lnT w="9525" cap="flat" cmpd="sng" algn="ctr">
                      <a:solidFill>
                        <a:srgbClr val="1C1340"/>
                      </a:solidFill>
                    </a:lnT>
                    <a:lnB w="9525" cap="flat" cmpd="sng" algn="ctr">
                      <a:solidFill>
                        <a:srgbClr val="1C1340"/>
                      </a:solidFill>
                    </a:lnB>
                    <a:solidFill>
                      <a:srgbClr val="F1F1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9525">
                      <a:solidFill>
                        <a:srgbClr val="1C1340"/>
                      </a:solidFill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9525">
                      <a:solidFill>
                        <a:srgbClr val="1C134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39268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E273728-A6E3-3FBD-F90A-2DE745D09346}"/>
              </a:ext>
            </a:extLst>
          </p:cNvPr>
          <p:cNvSpPr txBox="1"/>
          <p:nvPr/>
        </p:nvSpPr>
        <p:spPr>
          <a:xfrm>
            <a:off x="1301382" y="5159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ar-SA" b="1" dirty="0">
                <a:solidFill>
                  <a:schemeClr val="bg1"/>
                </a:solidFill>
                <a:latin typeface="+mj-lt"/>
              </a:rPr>
              <a:t>حالة التكامل مع الجهات التمويلية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ar-SA" b="1" dirty="0">
                <a:solidFill>
                  <a:schemeClr val="bg1"/>
                </a:solidFill>
                <a:latin typeface="+mj-lt"/>
              </a:rPr>
              <a:t> (2\4) 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398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871FBA-9913-FC2C-65E5-13C15F5D12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304725"/>
              </p:ext>
            </p:extLst>
          </p:nvPr>
        </p:nvGraphicFramePr>
        <p:xfrm>
          <a:off x="705174" y="1249818"/>
          <a:ext cx="10915328" cy="4704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7021">
                  <a:extLst>
                    <a:ext uri="{9D8B030D-6E8A-4147-A177-3AD203B41FA5}">
                      <a16:colId xmlns:a16="http://schemas.microsoft.com/office/drawing/2014/main" val="913532976"/>
                    </a:ext>
                  </a:extLst>
                </a:gridCol>
                <a:gridCol w="849002">
                  <a:extLst>
                    <a:ext uri="{9D8B030D-6E8A-4147-A177-3AD203B41FA5}">
                      <a16:colId xmlns:a16="http://schemas.microsoft.com/office/drawing/2014/main" val="425346687"/>
                    </a:ext>
                  </a:extLst>
                </a:gridCol>
                <a:gridCol w="849002">
                  <a:extLst>
                    <a:ext uri="{9D8B030D-6E8A-4147-A177-3AD203B41FA5}">
                      <a16:colId xmlns:a16="http://schemas.microsoft.com/office/drawing/2014/main" val="3205019474"/>
                    </a:ext>
                  </a:extLst>
                </a:gridCol>
                <a:gridCol w="1270238">
                  <a:extLst>
                    <a:ext uri="{9D8B030D-6E8A-4147-A177-3AD203B41FA5}">
                      <a16:colId xmlns:a16="http://schemas.microsoft.com/office/drawing/2014/main" val="2992942986"/>
                    </a:ext>
                  </a:extLst>
                </a:gridCol>
                <a:gridCol w="1527380">
                  <a:extLst>
                    <a:ext uri="{9D8B030D-6E8A-4147-A177-3AD203B41FA5}">
                      <a16:colId xmlns:a16="http://schemas.microsoft.com/office/drawing/2014/main" val="4009234183"/>
                    </a:ext>
                  </a:extLst>
                </a:gridCol>
                <a:gridCol w="1134202">
                  <a:extLst>
                    <a:ext uri="{9D8B030D-6E8A-4147-A177-3AD203B41FA5}">
                      <a16:colId xmlns:a16="http://schemas.microsoft.com/office/drawing/2014/main" val="968293289"/>
                    </a:ext>
                  </a:extLst>
                </a:gridCol>
                <a:gridCol w="1188483">
                  <a:extLst>
                    <a:ext uri="{9D8B030D-6E8A-4147-A177-3AD203B41FA5}">
                      <a16:colId xmlns:a16="http://schemas.microsoft.com/office/drawing/2014/main" val="4106161463"/>
                    </a:ext>
                  </a:extLst>
                </a:gridCol>
              </a:tblGrid>
              <a:tr h="471944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ملاحظات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نسبة الإنجاز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الحالة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التاريخ المستهدف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المرحلة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المنتج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البنك / جهة التمويل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44964"/>
                  </a:ext>
                </a:extLst>
              </a:tr>
              <a:tr h="432399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تم مشاركة الاتفاقية والمستندات اللازمة للعمل وبانتظار رد البنك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5</a:t>
                      </a:r>
                      <a:r>
                        <a:rPr lang="en-US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%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قيد العمل</a:t>
                      </a: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15/07/2026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دراسة الفرصة وعرضها على البنك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400" b="1" dirty="0">
                          <a:latin typeface="DIN Next LT Arabic (Headings)"/>
                          <a:cs typeface="DIN Next LT Arabic" panose="020B0803020203050203" pitchFamily="34" charset="-78"/>
                        </a:rPr>
                        <a:t>E1</a:t>
                      </a:r>
                      <a:endParaRPr lang="en-SA" sz="1400" b="1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0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D360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488978"/>
                  </a:ext>
                </a:extLst>
              </a:tr>
              <a:tr h="2831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958711"/>
                  </a:ext>
                </a:extLst>
              </a:tr>
              <a:tr h="2831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 kern="120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66917"/>
                  </a:ext>
                </a:extLst>
              </a:tr>
              <a:tr h="2831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66395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مراجعة الاتفاقية لدى القانونية في البنك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5%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قيد العمل</a:t>
                      </a:r>
                      <a:endParaRPr lang="en-SA" sz="1000" b="1" kern="120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04/30/2026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الاتفاقية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latin typeface="DIN Next LT Arabic (Headings)"/>
                          <a:cs typeface="DIN Next LT Arabic" panose="020B0803020203050203" pitchFamily="34" charset="-78"/>
                        </a:rPr>
                        <a:t>E1</a:t>
                      </a:r>
                      <a:endParaRPr lang="en-SA" sz="1400" b="1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  <a:p>
                      <a:pPr marL="0" algn="ctr" defTabSz="914400" rtl="1" eaLnBrk="1" latinLnBrk="0" hangingPunct="1"/>
                      <a:endParaRPr lang="en-SA" sz="1400" b="1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رايز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77153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قيد العمل</a:t>
                      </a: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الأعمال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IN Next LT Arabic" panose="020B0503020203050203" pitchFamily="34" charset="-78"/>
                        <a:cs typeface="DIN Next LT Arabic" panose="020B05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>
                        <a:latin typeface="DIN Next LT Arabic" panose="020B0503020203050203" pitchFamily="34" charset="-78"/>
                        <a:cs typeface="DIN Next LT Arabic" panose="020B0503020203050203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211188"/>
                  </a:ext>
                </a:extLst>
              </a:tr>
              <a:tr h="2831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209473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143957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kern="120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251834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مراجعة الاتفاقية لدى القانونية في البنك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5%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قيد العمل</a:t>
                      </a: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10/07/2026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الاتفاقية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400" b="1" dirty="0">
                          <a:latin typeface="DIN Next LT Arabic (Headings)"/>
                          <a:cs typeface="DIN Next LT Arabic" panose="020B0803020203050203" pitchFamily="34" charset="-78"/>
                        </a:rPr>
                        <a:t>E1</a:t>
                      </a:r>
                      <a:endParaRPr lang="en-SA" sz="1400" b="1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مصرف الانماء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876962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r" defTabSz="914400" rtl="1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148633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091493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81554"/>
                  </a:ext>
                </a:extLst>
              </a:tr>
              <a:tr h="2964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الحصول على عدم ممانعة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36925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4E31EE1-F5D4-3865-09DC-6374B9E3D95B}"/>
              </a:ext>
            </a:extLst>
          </p:cNvPr>
          <p:cNvSpPr txBox="1"/>
          <p:nvPr/>
        </p:nvSpPr>
        <p:spPr>
          <a:xfrm>
            <a:off x="1192525" y="4614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ar-SA" b="1" dirty="0">
                <a:solidFill>
                  <a:schemeClr val="bg1"/>
                </a:solidFill>
                <a:latin typeface="+mj-lt"/>
              </a:rPr>
              <a:t>حالة التكامل مع الجهات التمويلية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ar-SA" b="1" dirty="0">
                <a:solidFill>
                  <a:schemeClr val="bg1"/>
                </a:solidFill>
                <a:latin typeface="+mj-lt"/>
              </a:rPr>
              <a:t> (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3</a:t>
            </a:r>
            <a:r>
              <a:rPr lang="ar-SA" b="1" dirty="0">
                <a:solidFill>
                  <a:schemeClr val="bg1"/>
                </a:solidFill>
                <a:latin typeface="+mj-lt"/>
              </a:rPr>
              <a:t>\4) 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5320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1DA65-D705-602B-3C70-7CC616B43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769862"/>
              </p:ext>
            </p:extLst>
          </p:nvPr>
        </p:nvGraphicFramePr>
        <p:xfrm>
          <a:off x="1273629" y="1258247"/>
          <a:ext cx="10235579" cy="4992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421">
                  <a:extLst>
                    <a:ext uri="{9D8B030D-6E8A-4147-A177-3AD203B41FA5}">
                      <a16:colId xmlns:a16="http://schemas.microsoft.com/office/drawing/2014/main" val="913532976"/>
                    </a:ext>
                  </a:extLst>
                </a:gridCol>
                <a:gridCol w="861311">
                  <a:extLst>
                    <a:ext uri="{9D8B030D-6E8A-4147-A177-3AD203B41FA5}">
                      <a16:colId xmlns:a16="http://schemas.microsoft.com/office/drawing/2014/main" val="2162934442"/>
                    </a:ext>
                  </a:extLst>
                </a:gridCol>
                <a:gridCol w="861311">
                  <a:extLst>
                    <a:ext uri="{9D8B030D-6E8A-4147-A177-3AD203B41FA5}">
                      <a16:colId xmlns:a16="http://schemas.microsoft.com/office/drawing/2014/main" val="3205019474"/>
                    </a:ext>
                  </a:extLst>
                </a:gridCol>
                <a:gridCol w="1288653">
                  <a:extLst>
                    <a:ext uri="{9D8B030D-6E8A-4147-A177-3AD203B41FA5}">
                      <a16:colId xmlns:a16="http://schemas.microsoft.com/office/drawing/2014/main" val="2992942986"/>
                    </a:ext>
                  </a:extLst>
                </a:gridCol>
                <a:gridCol w="1549525">
                  <a:extLst>
                    <a:ext uri="{9D8B030D-6E8A-4147-A177-3AD203B41FA5}">
                      <a16:colId xmlns:a16="http://schemas.microsoft.com/office/drawing/2014/main" val="4009234183"/>
                    </a:ext>
                  </a:extLst>
                </a:gridCol>
                <a:gridCol w="1150645">
                  <a:extLst>
                    <a:ext uri="{9D8B030D-6E8A-4147-A177-3AD203B41FA5}">
                      <a16:colId xmlns:a16="http://schemas.microsoft.com/office/drawing/2014/main" val="968293289"/>
                    </a:ext>
                  </a:extLst>
                </a:gridCol>
                <a:gridCol w="1205713">
                  <a:extLst>
                    <a:ext uri="{9D8B030D-6E8A-4147-A177-3AD203B41FA5}">
                      <a16:colId xmlns:a16="http://schemas.microsoft.com/office/drawing/2014/main" val="4106161463"/>
                    </a:ext>
                  </a:extLst>
                </a:gridCol>
              </a:tblGrid>
              <a:tr h="404123"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dirty="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ملاحظات</a:t>
                      </a:r>
                      <a:endParaRPr lang="en-SA" sz="1000" dirty="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نسبة الإنجاز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 dirty="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الحالة</a:t>
                      </a:r>
                      <a:endParaRPr lang="en-SA" sz="1000" dirty="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التاريخ المستهدف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المرحلة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المنتج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ar-SA" sz="1000">
                          <a:solidFill>
                            <a:schemeClr val="bg1"/>
                          </a:solidFill>
                          <a:latin typeface="DIN Next LT Arabic" panose="020B0803020203050203" pitchFamily="34" charset="-78"/>
                          <a:cs typeface="DIN Next LT Arabic" panose="020B0803020203050203" pitchFamily="34" charset="-78"/>
                        </a:rPr>
                        <a:t>البنك / جهة التمويل</a:t>
                      </a:r>
                      <a:endParaRPr lang="en-SA" sz="1000">
                        <a:solidFill>
                          <a:schemeClr val="bg1"/>
                        </a:solidFill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7844964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" panose="020B0803020203050203" pitchFamily="34" charset="-78"/>
                          <a:ea typeface="+mn-ea"/>
                          <a:cs typeface="DIN Next LT Arabic" panose="020B0803020203050203" pitchFamily="34" charset="-78"/>
                        </a:rPr>
                        <a:t>تم الانتهاء من تحليل الأعمال 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" panose="020B0803020203050203" pitchFamily="34" charset="-78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20%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+mj-lt"/>
                          <a:cs typeface="DIN Next LT Arabic" panose="020B0803020203050203" pitchFamily="34" charset="-78"/>
                        </a:rPr>
                        <a:t>مكتمل</a:t>
                      </a:r>
                      <a:endParaRPr lang="en-SA" sz="1000"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>
                          <a:solidFill>
                            <a:schemeClr val="tx1"/>
                          </a:solidFill>
                          <a:latin typeface="+mj-lt"/>
                          <a:cs typeface="DIN Next LT Arabic" panose="020B0803020203050203" pitchFamily="34" charset="-78"/>
                        </a:rPr>
                        <a:t>11/11/2025</a:t>
                      </a:r>
                      <a:endParaRPr lang="en-SA" sz="1000"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+mj-lt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200" b="1" dirty="0">
                          <a:latin typeface="DIN Next LT Arabic (Headings)"/>
                          <a:cs typeface="Dubai" panose="020B0503030403030204" pitchFamily="34" charset="-78"/>
                        </a:rPr>
                        <a:t>E1</a:t>
                      </a:r>
                      <a:endParaRPr lang="en-SA" sz="1200" b="1" dirty="0"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البنك العربي الوطني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488978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" panose="020B0803020203050203" pitchFamily="34" charset="-78"/>
                          <a:ea typeface="+mn-ea"/>
                          <a:cs typeface="DIN Next LT Arabic" panose="020B0803020203050203" pitchFamily="34" charset="-78"/>
                        </a:rPr>
                        <a:t>تم طلب مهله لتنسيق الفريق داخلياً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" panose="020B0803020203050203" pitchFamily="34" charset="-78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+mj-lt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+mj-lt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+mj-lt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+mj-lt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>
                        <a:latin typeface="+mj-lt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958711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9066917"/>
                  </a:ext>
                </a:extLst>
              </a:tr>
              <a:tr h="370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حصل البنك على عدم الممانعه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مكتمل</a:t>
                      </a: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29/06/2026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A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الحصول على عدم ممانعة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FAE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66395"/>
                  </a:ext>
                </a:extLst>
              </a:tr>
              <a:tr h="25381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20%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30/0</a:t>
                      </a: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5</a:t>
                      </a:r>
                      <a:r>
                        <a:rPr lang="en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dirty="0">
                          <a:latin typeface="DIN Next LT Arabic (Headings)"/>
                          <a:cs typeface="Dubai" panose="020B0503030403030204" pitchFamily="34" charset="-78"/>
                        </a:rPr>
                        <a:t>E1</a:t>
                      </a:r>
                      <a:endParaRPr lang="en-SA" sz="1200" b="1" dirty="0"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البنك الأهلي السعودي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211188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209473"/>
                  </a:ext>
                </a:extLst>
              </a:tr>
              <a:tr h="25381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143957"/>
                  </a:ext>
                </a:extLst>
              </a:tr>
              <a:tr h="253811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الحصول على عدم ممانعة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251834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مراجعة الاتفاقية لدى القانونية في الجهة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10%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15/07/2026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الاتفاقية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1" eaLnBrk="1" latinLnBrk="0" hangingPunct="1"/>
                      <a:r>
                        <a:rPr lang="en-US" sz="1200" b="1" dirty="0">
                          <a:latin typeface="DIN Next LT Arabic (Headings)"/>
                          <a:cs typeface="Dubai" panose="020B0503030403030204" pitchFamily="34" charset="-78"/>
                        </a:rPr>
                        <a:t>E2</a:t>
                      </a:r>
                      <a:endParaRPr lang="en-SA" sz="1200" b="1" dirty="0"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1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1" eaLnBrk="1" latinLnBrk="0" hangingPunct="1"/>
                      <a:endParaRPr lang="ar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1" eaLnBrk="1" latinLnBrk="0" hangingPunct="1"/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منافع 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79803"/>
                  </a:ext>
                </a:extLst>
              </a:tr>
              <a:tr h="370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تم الاجتماع لتحليل المتطلبات لدى الجهة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chemeClr val="tx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قيد العمل</a:t>
                      </a:r>
                      <a:endParaRPr lang="en-SA" sz="1000" b="1" kern="1200" dirty="0">
                        <a:solidFill>
                          <a:schemeClr val="tx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15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/0</a:t>
                      </a:r>
                      <a:r>
                        <a:rPr lang="ar-SA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7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/2026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الاعمال 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1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r" defTabSz="914400" rtl="1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784231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التطوير التقني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0734461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583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1" kern="1200" dirty="0">
                          <a:solidFill>
                            <a:srgbClr val="6B7280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b="1" kern="1200" dirty="0">
                        <a:solidFill>
                          <a:srgbClr val="6B7280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>
                          <a:latin typeface="DIN Next LT Arabic (Headings)"/>
                          <a:cs typeface="DIN Next LT Arabic" panose="020B0803020203050203" pitchFamily="34" charset="-78"/>
                        </a:rPr>
                        <a:t>الحصول على عدم ممانعة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901064"/>
                  </a:ext>
                </a:extLst>
              </a:tr>
              <a:tr h="4041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kern="1200" dirty="0">
                          <a:solidFill>
                            <a:schemeClr val="dk1"/>
                          </a:solidFill>
                          <a:latin typeface="DIN Next LT Arabic (Headings)"/>
                          <a:ea typeface="+mn-ea"/>
                          <a:cs typeface="DIN Next LT Arabic" panose="020B0803020203050203" pitchFamily="34" charset="-78"/>
                        </a:rPr>
                        <a:t>بانتظار رد الجهة على الفرصة المطروحه</a:t>
                      </a: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1C1340"/>
                          </a:solidFill>
                          <a:latin typeface="DIN Next LT Arabic (Headings)"/>
                          <a:ea typeface="+mn-ea"/>
                          <a:cs typeface="+mn-cs"/>
                        </a:rPr>
                        <a:t>0%</a:t>
                      </a:r>
                      <a:endParaRPr lang="en-SA" sz="1000" b="1" kern="1200" dirty="0">
                        <a:solidFill>
                          <a:srgbClr val="1C1340"/>
                        </a:solidFill>
                        <a:latin typeface="DIN Next LT Arabic (Headings)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لم يتم البدء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دراسة الفرصة وعرضها على الجهة التمويلية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dirty="0">
                          <a:latin typeface="DIN Next LT Arabic (Headings)"/>
                          <a:cs typeface="DIN Next LT Arabic" panose="020B0803020203050203" pitchFamily="34" charset="-78"/>
                        </a:rPr>
                        <a:t>E1</a:t>
                      </a:r>
                      <a:endParaRPr lang="en-SA" sz="1200" b="1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ar-SA" sz="10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برق</a:t>
                      </a:r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US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endParaRPr lang="en-SA" sz="10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918868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>
                          <a:latin typeface="DIN Next LT Arabic (Headings)"/>
                          <a:cs typeface="DIN Next LT Arabic" panose="020B0803020203050203" pitchFamily="34" charset="-78"/>
                        </a:rPr>
                        <a:t>TBD</a:t>
                      </a:r>
                      <a:endParaRPr lang="en-SA" sz="100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توقيع الاتفاقية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436681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dirty="0"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تحليل الأعمال 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20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200"/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317634"/>
                  </a:ext>
                </a:extLst>
              </a:tr>
              <a:tr h="2424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 kern="1200" dirty="0">
                        <a:solidFill>
                          <a:schemeClr val="dk1"/>
                        </a:solidFill>
                        <a:latin typeface="DIN Next LT Arabic (Headings)"/>
                        <a:ea typeface="+mn-ea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 (Headings)"/>
                        <a:cs typeface="Dubai" panose="020B0503030403030204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dirty="0">
                          <a:latin typeface="DIN Next LT Arabic (Headings)"/>
                          <a:cs typeface="DIN Next LT Arabic" panose="020B0803020203050203" pitchFamily="34" charset="-78"/>
                        </a:rPr>
                        <a:t>الاختبارات</a:t>
                      </a:r>
                      <a:endParaRPr lang="en-SA" sz="1000" dirty="0">
                        <a:latin typeface="DIN Next LT Arabic (Headings)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SA" sz="1000">
                        <a:latin typeface="DIN Next LT Arabic" panose="020B0803020203050203" pitchFamily="34" charset="-78"/>
                        <a:cs typeface="DIN Next LT Arabic" panose="020B0803020203050203" pitchFamily="34" charset="-7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SA" sz="1000" dirty="0">
                        <a:latin typeface="Dubai" panose="020B0503030403030204" pitchFamily="34" charset="-78"/>
                        <a:cs typeface="Dubai" panose="020B0503030403030204" pitchFamily="34" charset="-78"/>
                      </a:endParaRPr>
                    </a:p>
                  </a:txBody>
                  <a:tcPr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92524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F738ABF-4A67-2DD2-054F-7E8301AAF0D0}"/>
              </a:ext>
            </a:extLst>
          </p:cNvPr>
          <p:cNvSpPr txBox="1"/>
          <p:nvPr/>
        </p:nvSpPr>
        <p:spPr>
          <a:xfrm>
            <a:off x="2830285" y="505131"/>
            <a:ext cx="43651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defRPr/>
            </a:pPr>
            <a:r>
              <a:rPr lang="ar-SA" b="1" dirty="0">
                <a:solidFill>
                  <a:schemeClr val="bg1"/>
                </a:solidFill>
                <a:latin typeface="+mj-lt"/>
              </a:rPr>
              <a:t>حالة التكامل مع الجهات التمويلية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ar-SA" b="1" dirty="0">
                <a:solidFill>
                  <a:schemeClr val="bg1"/>
                </a:solidFill>
                <a:latin typeface="+mj-lt"/>
              </a:rPr>
              <a:t> (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4</a:t>
            </a:r>
            <a:r>
              <a:rPr lang="ar-SA" b="1" dirty="0">
                <a:solidFill>
                  <a:schemeClr val="bg1"/>
                </a:solidFill>
                <a:latin typeface="+mj-lt"/>
              </a:rPr>
              <a:t>\4) </a:t>
            </a:r>
            <a:endParaRPr lang="en-US" b="1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847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D2EABC-A6AB-4377-80AE-3146C1D72A73}"/>
              </a:ext>
            </a:extLst>
          </p:cNvPr>
          <p:cNvSpPr txBox="1"/>
          <p:nvPr/>
        </p:nvSpPr>
        <p:spPr>
          <a:xfrm>
            <a:off x="3853545" y="431796"/>
            <a:ext cx="2960913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ar-SA" sz="2300" b="1" dirty="0">
                <a:solidFill>
                  <a:schemeClr val="bg1"/>
                </a:solidFill>
                <a:cs typeface="+mj-cs"/>
              </a:rPr>
              <a:t>تحديث المسار </a:t>
            </a:r>
            <a:r>
              <a:rPr lang="ar-SA" sz="2000" b="1" dirty="0">
                <a:solidFill>
                  <a:schemeClr val="bg1"/>
                </a:solidFill>
                <a:cs typeface="+mj-cs"/>
              </a:rPr>
              <a:t>القانوني</a:t>
            </a:r>
            <a:endParaRPr lang="en-US" sz="2000" b="1" dirty="0">
              <a:solidFill>
                <a:schemeClr val="bg1"/>
              </a:solidFill>
              <a:cs typeface="+mj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C7792C-3C99-4064-9F5E-C85918EE3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921174"/>
              </p:ext>
            </p:extLst>
          </p:nvPr>
        </p:nvGraphicFramePr>
        <p:xfrm>
          <a:off x="381000" y="1066796"/>
          <a:ext cx="11430000" cy="5146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8000">
                  <a:extLst>
                    <a:ext uri="{9D8B030D-6E8A-4147-A177-3AD203B41FA5}">
                      <a16:colId xmlns:a16="http://schemas.microsoft.com/office/drawing/2014/main" val="260371682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00881976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711845538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177569040"/>
                    </a:ext>
                  </a:extLst>
                </a:gridCol>
              </a:tblGrid>
              <a:tr h="439783"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 err="1">
                          <a:solidFill>
                            <a:srgbClr val="FFFFFF"/>
                          </a:solidFill>
                          <a:latin typeface="+mn-lt"/>
                        </a:rPr>
                        <a:t>الملاحظات</a:t>
                      </a:r>
                      <a:endParaRPr lang="en-US" sz="1300" b="0" dirty="0">
                        <a:solidFill>
                          <a:srgbClr val="FFFFFF"/>
                        </a:solidFill>
                        <a:latin typeface="+mn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الحالة</a:t>
                      </a:r>
                      <a:endParaRPr lang="en-US" sz="1300" b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FFFFF"/>
                          </a:solidFill>
                          <a:latin typeface="+mj-lt"/>
                        </a:rPr>
                        <a:t>التاريخ المستهدف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>
                          <a:solidFill>
                            <a:srgbClr val="FFFFFF"/>
                          </a:solidFill>
                          <a:latin typeface="+mj-lt"/>
                        </a:rPr>
                        <a:t>البند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08899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r>
                        <a:rPr lang="en-US" sz="1000" b="0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تم اعتماد أربع أعضاء من أصل خمسة، وبانتظار التحديثات المتبقية من الطرف الأول بخصوص تعيين العضو الخامس.</a:t>
                      </a: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B3D91"/>
                          </a:solidFill>
                          <a:effectLst/>
                          <a:uLnTx/>
                          <a:uFillTx/>
                          <a:latin typeface="DIN Next LT Arabic"/>
                          <a:cs typeface="DIN Next LT Arabic"/>
                        </a:rPr>
                        <a:t>قيد العمل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3D91"/>
                        </a:solidFill>
                        <a:effectLst/>
                        <a:uLnTx/>
                        <a:uFillTx/>
                        <a:latin typeface="DIN Next LT Arabic"/>
                        <a:cs typeface="DIN Next LT Arabic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1 يونيو 2025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
</a:t>
                      </a: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31 يوليو 2025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
</a:t>
                      </a: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30 نوفمبر 2025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تشكيل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مجلس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إدارة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الشركة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الجديد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409461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r>
                        <a:rPr lang="en-US" sz="1000" b="0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تمت مشاركة النظام الأساس مع الطرف الأول، وهو الآن تحت الدراسة.</a:t>
                      </a: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B3D91"/>
                          </a:solidFill>
                          <a:effectLst/>
                          <a:uLnTx/>
                          <a:uFillTx/>
                          <a:latin typeface="DIN Next LT Arabic"/>
                          <a:cs typeface="DIN Next LT Arabic"/>
                        </a:rPr>
                        <a:t>قيد العمل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3D91"/>
                        </a:solidFill>
                        <a:effectLst/>
                        <a:uLnTx/>
                        <a:uFillTx/>
                        <a:latin typeface="DIN Next LT Arabic"/>
                        <a:cs typeface="DIN Next LT Arabic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22 سبتمبر 2025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
</a:t>
                      </a: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30 نوفمبر 2025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
</a:t>
                      </a: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15 فبراير 2026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اعتماد النظام الأساس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للشركة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813760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r>
                        <a:rPr lang="en-US" sz="1000" b="0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تم الحصول على موافقة مجلس الإدارة على قرار شراء الحصص، وتم رفع الطلب إلى الإدارة المالية للإشعار بالقرار ولمراجعة جدول الدفعات.</a:t>
                      </a: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ar-SA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B3D91"/>
                          </a:solidFill>
                          <a:effectLst/>
                          <a:uLnTx/>
                          <a:uFillTx/>
                          <a:latin typeface="DIN Next LT Arabic"/>
                          <a:cs typeface="DIN Next LT Arabic"/>
                        </a:rPr>
                        <a:t>قيد العمل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B3D91"/>
                        </a:solidFill>
                        <a:effectLst/>
                        <a:uLnTx/>
                        <a:uFillTx/>
                        <a:latin typeface="DIN Next LT Arabic"/>
                        <a:cs typeface="DIN Next LT Arabic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30 سبتمبر 2025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
</a:t>
                      </a: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30 اكتوبر 2025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تحويل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مبلغ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مساهمة الطرف الأول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النقدية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7447823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r>
                        <a:rPr lang="en-US" sz="1000" b="0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تم تحويل الشركة الى مساهمة مبسطة بتاريخ 18/12/2025.</a:t>
                      </a: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B5E20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13 نوفمبر 2025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إجراءات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تحويل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السجل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التجاري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9517569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endParaRPr lang="en-US" sz="1000" b="0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555555"/>
                          </a:solidFill>
                          <a:latin typeface="+mj-lt"/>
                        </a:rPr>
                        <a:t>لم يتم البدء</a:t>
                      </a:r>
                      <a:endParaRPr lang="en-US" sz="1100" b="0" dirty="0">
                        <a:solidFill>
                          <a:srgbClr val="555555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TBD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اعتماد من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المراجع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الخارجي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لزيادة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رأس المال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518171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r>
                        <a:rPr lang="en-US" sz="1000" b="0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تم قبول زيادة رأس المال المدفوع إلى (2,000,000 ريال سعودي) المحدد من البنك المركزي.</a:t>
                      </a: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B5E20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2 فبراير 2026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زيادة رأس المال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030520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endParaRPr lang="en-US" sz="1000" b="0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1B5E20"/>
                          </a:solidFill>
                          <a:latin typeface="+mj-lt"/>
                        </a:rPr>
                        <a:t>مكتمل</a:t>
                      </a:r>
                      <a:endParaRPr lang="en-US" sz="1100" b="0" dirty="0">
                        <a:solidFill>
                          <a:srgbClr val="1B5E2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2 سبتمبر 2025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CEF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FFFFFF"/>
                          </a:solidFill>
                          <a:latin typeface="+mj-lt"/>
                        </a:rPr>
                        <a:t>انهاء إجراءات الملاحق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511538"/>
                  </a:ext>
                </a:extLst>
              </a:tr>
              <a:tr h="586377">
                <a:tc>
                  <a:txBody>
                    <a:bodyPr/>
                    <a:lstStyle/>
                    <a:p>
                      <a:pPr algn="ctr" rtl="1"/>
                      <a:r>
                        <a:rPr lang="en-US" sz="1000" b="0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تم تزويد الطرف الاول بالملاحق</a:t>
                      </a: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kern="1200" dirty="0">
                          <a:solidFill>
                            <a:srgbClr val="0B3D91"/>
                          </a:solidFill>
                          <a:latin typeface="+mn-lt"/>
                          <a:ea typeface="+mn-ea"/>
                          <a:cs typeface="+mn-cs"/>
                        </a:rPr>
                        <a:t>قيد العمل</a:t>
                      </a:r>
                      <a:endParaRPr lang="en-US" sz="1100" b="0" kern="1200" dirty="0">
                        <a:solidFill>
                          <a:srgbClr val="0B3D9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10 فبراير 2026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DDE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توقيع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واعتماد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الملاحق</a:t>
                      </a:r>
                      <a:r>
                        <a:rPr lang="en-US" sz="1100" b="0" dirty="0">
                          <a:solidFill>
                            <a:srgbClr val="FFFFFF"/>
                          </a:solidFill>
                          <a:latin typeface="+mj-lt"/>
                        </a:rPr>
                        <a:t> من </a:t>
                      </a:r>
                      <a:r>
                        <a:rPr lang="en-US" sz="1100" b="0" dirty="0" err="1">
                          <a:solidFill>
                            <a:srgbClr val="FFFFFF"/>
                          </a:solidFill>
                          <a:latin typeface="+mj-lt"/>
                        </a:rPr>
                        <a:t>الطرفين</a:t>
                      </a:r>
                      <a:endParaRPr lang="en-US" sz="1100" b="0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51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478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B3A4DE-56F5-4817-B5FA-4ED85F248FBB}"/>
              </a:ext>
            </a:extLst>
          </p:cNvPr>
          <p:cNvSpPr txBox="1"/>
          <p:nvPr/>
        </p:nvSpPr>
        <p:spPr>
          <a:xfrm>
            <a:off x="587828" y="413657"/>
            <a:ext cx="774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ar-SA" sz="1300" b="1" dirty="0">
                <a:solidFill>
                  <a:schemeClr val="bg1"/>
                </a:solidFill>
              </a:rPr>
              <a:t>قائمة المهام المطلوبة من البنك المركزي لتقديم طلب الحصول على رخصة الوساطة الرقمية لشركة وصل</a:t>
            </a:r>
            <a:endParaRPr lang="en-US" sz="13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685A60-D7A2-441C-A43B-AAEA425E0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921879"/>
              </p:ext>
            </p:extLst>
          </p:nvPr>
        </p:nvGraphicFramePr>
        <p:xfrm>
          <a:off x="397933" y="1134532"/>
          <a:ext cx="11176000" cy="5056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43504937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40093463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692252353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3431677266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3836459443"/>
                    </a:ext>
                  </a:extLst>
                </a:gridCol>
              </a:tblGrid>
              <a:tr h="415572"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+mj-lt"/>
                        </a:rPr>
                        <a:t>تاريخ الإنجاز/المستهدف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ملاحظات</a:t>
                      </a:r>
                      <a:endParaRPr lang="en-US" sz="1300" b="1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+mj-lt"/>
                        </a:rPr>
                        <a:t>الحالة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+mj-lt"/>
                        </a:rPr>
                        <a:t>المهام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+mj-lt"/>
                        </a:rPr>
                        <a:t>#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520011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03/08/2025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تم الحصول على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الموافقة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بتاريخ</a:t>
                      </a:r>
                      <a:b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</a:b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أغسطس 2025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3 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الحصول على الموافقة الأولية من ساما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003344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24/08/2025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1C1340"/>
                          </a:solidFill>
                        </a:rPr>
                        <a:t>SecureEyes</a:t>
                      </a: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ت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م تعيين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شركة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endParaRPr lang="ar-SA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لاستكمال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المتطلبات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تعيين شركة استشارية متخصصة لتجهيز واستكمال متطلبات ساما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185657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22/09/2025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NHCIتم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الحصول على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التقرير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من</a:t>
                      </a:r>
                      <a:r>
                        <a:rPr lang="ar-SA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اجراء اختبارات الآمن السيبراني على المنصة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511749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02/10/2025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تجهيز سياسات الشركة للآمن السيبراني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4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2677435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02/10/2025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تجهيز سياسات الشركة للحوكمة المالية والحد من الاحتيال وغسيل الأموال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5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4839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05/10/2025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b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تطوير متطلبات الأمن السيبراني التقنية لموائمة متطلبات ساما التقنية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6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283232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20/10/2025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تم رفع ملف طلب الترخيص الى ساما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تجهيز ملف طلب الرخصة والزيارة من ساما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7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437894"/>
                  </a:ext>
                </a:extLst>
              </a:tr>
              <a:tr h="692620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10/03/2026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ar-SA" sz="1100" b="0">
                        <a:solidFill>
                          <a:srgbClr val="1C13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  <a:t>تم الرد على استفسارات البنك المركزي</a:t>
                      </a:r>
                      <a:endParaRPr lang="ar-SA" sz="1100" b="0">
                        <a:solidFill>
                          <a:srgbClr val="1C1340"/>
                        </a:solidFill>
                        <a:latin typeface="+mj-lt"/>
                      </a:endParaRPr>
                    </a:p>
                    <a:p>
                      <a:pPr algn="ctr"/>
                      <a:r>
                        <a:rPr lang="ar-SA" sz="1100" b="0">
                          <a:solidFill>
                            <a:srgbClr val="1C1340"/>
                          </a:solidFill>
                          <a:latin typeface="+mj-lt"/>
                        </a:rPr>
                        <a:t>بتاريخ 10 مارس 2026</a:t>
                      </a:r>
                      <a:br>
                        <a:rPr lang="en-US" sz="1100" b="0">
                          <a:solidFill>
                            <a:srgbClr val="1C1340"/>
                          </a:solidFill>
                          <a:latin typeface="+mj-lt"/>
                        </a:rPr>
                      </a:br>
                      <a:endParaRPr lang="en-US" sz="1100" b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10B981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E8F5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تم تزويد البنك المركزي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بمتطلبات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إضافية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وتوضيح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بعض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الاستفسارات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المتعلقة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بالمنتج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+mj-lt"/>
                        </a:rPr>
                        <a:t>.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8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619116"/>
                  </a:ext>
                </a:extLst>
              </a:tr>
              <a:tr h="484834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solidFill>
                            <a:srgbClr val="1C1340"/>
                          </a:solidFill>
                        </a:rPr>
                        <a:t>25/06/2026</a:t>
                      </a:r>
                    </a:p>
                    <a:p>
                      <a:pPr algn="ctr"/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تم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الانتهاء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من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تجهيز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مكتب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وصل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للامتثال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لمتطلبات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الأمن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والسلامة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وذلك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ضمن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متطلبات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الزيارة</a:t>
                      </a:r>
                      <a:r>
                        <a:rPr lang="en-US" sz="1100" b="0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C1340"/>
                          </a:solidFill>
                          <a:latin typeface="+mj-lt"/>
                        </a:rPr>
                        <a:t>الترخيصية</a:t>
                      </a:r>
                      <a:endParaRPr lang="en-US" sz="1100" b="0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r-SA" sz="1100" b="1" dirty="0">
                          <a:solidFill>
                            <a:srgbClr val="00B050"/>
                          </a:solidFill>
                          <a:latin typeface="+mj-lt"/>
                        </a:rPr>
                        <a:t>مكتمل</a:t>
                      </a:r>
                      <a:endParaRPr lang="en-US" sz="1100" b="1" dirty="0">
                        <a:solidFill>
                          <a:srgbClr val="00B05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  <a:latin typeface="+mj-lt"/>
                        </a:rPr>
                        <a:t>الزيارة الترخيصية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j-lt"/>
                        </a:rPr>
                        <a:t>9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87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398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AD7D17-FD94-461A-84FB-E50D40C4EF0C}"/>
              </a:ext>
            </a:extLst>
          </p:cNvPr>
          <p:cNvSpPr txBox="1"/>
          <p:nvPr/>
        </p:nvSpPr>
        <p:spPr>
          <a:xfrm>
            <a:off x="4103914" y="353786"/>
            <a:ext cx="2995386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ar-SA" sz="2800" b="1" dirty="0">
                <a:solidFill>
                  <a:schemeClr val="bg1"/>
                </a:solidFill>
              </a:rPr>
              <a:t>حساب ضامن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BB2ABE-7D7A-4C6D-AE6C-68FF89B7D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580883"/>
              </p:ext>
            </p:extLst>
          </p:nvPr>
        </p:nvGraphicFramePr>
        <p:xfrm>
          <a:off x="508000" y="1270000"/>
          <a:ext cx="11176000" cy="505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52360891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5745142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159651077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185507058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998836968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الفريق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المسؤول</a:t>
                      </a:r>
                      <a:endParaRPr lang="en-US" sz="1400" b="1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>
                          <a:solidFill>
                            <a:srgbClr val="FFFFFF"/>
                          </a:solidFill>
                          <a:latin typeface="+mj-lt"/>
                        </a:rPr>
                        <a:t>التاريخ المتوقع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>
                          <a:solidFill>
                            <a:srgbClr val="FFFFFF"/>
                          </a:solidFill>
                          <a:latin typeface="+mj-lt"/>
                        </a:rPr>
                        <a:t>الحالة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>
                          <a:solidFill>
                            <a:srgbClr val="FFFFFF"/>
                          </a:solidFill>
                          <a:latin typeface="+mj-lt"/>
                        </a:rPr>
                        <a:t>المهمة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>
                          <a:solidFill>
                            <a:srgbClr val="FFFFFF"/>
                          </a:solidFill>
                          <a:latin typeface="+mj-lt"/>
                        </a:rPr>
                        <a:t>#</a:t>
                      </a:r>
                    </a:p>
                  </a:txBody>
                  <a:tcPr anchor="ctr">
                    <a:solidFill>
                      <a:srgbClr val="1C1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5079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وصل</a:t>
                      </a:r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10 فبراير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جمع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المتطلبات</a:t>
                      </a:r>
                      <a:endParaRPr lang="en-US" sz="12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37101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وصل</a:t>
                      </a:r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12 فبراير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مرحلة التحليل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44393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وصل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16 فبراير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النسخة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الأولية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من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وثيقة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المتطلبات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(BRD)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36687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NHCI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16 </a:t>
                      </a:r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فبراير</a:t>
                      </a:r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اعتماد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النسخة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الأولية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من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وثيقة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المتطلبات</a:t>
                      </a:r>
                      <a:endParaRPr lang="en-US" sz="12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4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010211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وصل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23 </a:t>
                      </a:r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فبراير</a:t>
                      </a:r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النسخة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النهائية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من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وثيقة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المتطلبات</a:t>
                      </a:r>
                      <a:endParaRPr lang="en-US" sz="12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031296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NHCI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24 </a:t>
                      </a:r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فبراير</a:t>
                      </a:r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  <a:endParaRPr lang="en-US" sz="1200" b="1" dirty="0">
                        <a:solidFill>
                          <a:srgbClr val="FFFFFF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اعتماد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النسخة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النهائية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من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وثيقة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المتطلبات</a:t>
                      </a:r>
                      <a:endParaRPr lang="en-US" sz="12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6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332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وصل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تطوير</a:t>
                      </a:r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 النظام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61586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وصل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30 مارس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مكتمل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كتالوج الخدمات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8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85774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NHCI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يحدد لاحقًا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قيد التنفيذ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التكامل البرمجي (API)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4927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 NHCIوصل 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يحدد</a:t>
                      </a:r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لاحقًا</a:t>
                      </a:r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قيد التنفيذ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الاختبارات</a:t>
                      </a:r>
                      <a:endParaRPr lang="en-US" sz="12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1C1340"/>
                          </a:solidFill>
                          <a:latin typeface="+mj-lt"/>
                        </a:rPr>
                        <a:t>10</a:t>
                      </a:r>
                    </a:p>
                  </a:txBody>
                  <a:tcPr anchor="ctr">
                    <a:solidFill>
                      <a:srgbClr val="F4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026778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 NHCIوصل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يحدد</a:t>
                      </a:r>
                      <a:r>
                        <a:rPr lang="en-US" sz="1200" b="1" kern="1200" dirty="0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200" b="1" kern="1200" dirty="0" err="1">
                          <a:solidFill>
                            <a:srgbClr val="1C1340"/>
                          </a:solidFill>
                          <a:latin typeface="+mj-lt"/>
                          <a:ea typeface="+mn-ea"/>
                          <a:cs typeface="+mn-cs"/>
                        </a:rPr>
                        <a:t>لاحقًا</a:t>
                      </a:r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algn="ctr" rtl="1"/>
                      <a:endParaRPr lang="en-US" sz="1200" b="1" kern="1200" dirty="0">
                        <a:solidFill>
                          <a:srgbClr val="1C1340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>
                          <a:solidFill>
                            <a:srgbClr val="FFFFFF"/>
                          </a:solidFill>
                          <a:latin typeface="+mj-lt"/>
                        </a:rPr>
                        <a:t>قيد التنفيذ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 err="1">
                          <a:solidFill>
                            <a:srgbClr val="1C1340"/>
                          </a:solidFill>
                          <a:latin typeface="+mj-lt"/>
                        </a:rPr>
                        <a:t>الإطلاق</a:t>
                      </a:r>
                      <a:endParaRPr lang="en-US" sz="1200" b="1" dirty="0">
                        <a:solidFill>
                          <a:srgbClr val="1C1340"/>
                        </a:solidFill>
                        <a:latin typeface="+mj-lt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b="1" dirty="0">
                          <a:solidFill>
                            <a:srgbClr val="1C1340"/>
                          </a:solidFill>
                          <a:latin typeface="+mj-lt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084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370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7874000" y="279400"/>
            <a:ext cx="2540000" cy="304800"/>
          </a:xfrm>
          <a:prstGeom prst="rect">
            <a:avLst/>
          </a:prstGeom>
          <a:noFill/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400" b="1" dirty="0">
                <a:solidFill>
                  <a:srgbClr val="5E2EE8"/>
                </a:solidFill>
              </a:rPr>
              <a:t>المرحلة الأولى</a:t>
            </a:r>
          </a:p>
        </p:txBody>
      </p:sp>
      <p:sp>
        <p:nvSpPr>
          <p:cNvPr id="201" name="s202"/>
          <p:cNvSpPr/>
          <p:nvPr/>
        </p:nvSpPr>
        <p:spPr>
          <a:xfrm>
            <a:off x="1349022" y="279400"/>
            <a:ext cx="5334000" cy="660400"/>
          </a:xfrm>
          <a:prstGeom prst="rect">
            <a:avLst/>
          </a:prstGeom>
          <a:noFill/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2400" b="1" dirty="0">
                <a:solidFill>
                  <a:schemeClr val="bg1"/>
                </a:solidFill>
              </a:rPr>
              <a:t>التقييم والتحضير</a:t>
            </a:r>
          </a:p>
        </p:txBody>
      </p:sp>
      <p:sp>
        <p:nvSpPr>
          <p:cNvPr id="202" name="s203"/>
          <p:cNvSpPr/>
          <p:nvPr/>
        </p:nvSpPr>
        <p:spPr>
          <a:xfrm>
            <a:off x="457200" y="3162300"/>
            <a:ext cx="8255000" cy="19050"/>
          </a:xfrm>
          <a:prstGeom prst="rect">
            <a:avLst/>
          </a:prstGeom>
          <a:solidFill>
            <a:srgbClr val="E9E9E9"/>
          </a:solidFill>
        </p:spPr>
        <p:txBody>
          <a:bodyPr wrap="square" lIns="73152" tIns="9144" rIns="73152" bIns="9144" rtlCol="1" anchor="ctr">
            <a:normAutofit fontScale="25000" lnSpcReduction="20000"/>
          </a:bodyPr>
          <a:lstStyle/>
          <a:p>
            <a:endParaRPr lang="ar-SA"/>
          </a:p>
        </p:txBody>
      </p:sp>
      <p:sp>
        <p:nvSpPr>
          <p:cNvPr id="203" name="s204"/>
          <p:cNvSpPr/>
          <p:nvPr/>
        </p:nvSpPr>
        <p:spPr>
          <a:xfrm>
            <a:off x="457200" y="3771900"/>
            <a:ext cx="8255000" cy="19050"/>
          </a:xfrm>
          <a:prstGeom prst="rect">
            <a:avLst/>
          </a:prstGeom>
          <a:solidFill>
            <a:srgbClr val="E9E9E9"/>
          </a:solidFill>
        </p:spPr>
        <p:txBody>
          <a:bodyPr wrap="square" lIns="73152" tIns="9144" rIns="73152" bIns="9144" rtlCol="1" anchor="ctr">
            <a:normAutofit fontScale="25000" lnSpcReduction="20000"/>
          </a:bodyPr>
          <a:lstStyle/>
          <a:p>
            <a:endParaRPr lang="ar-SA"/>
          </a:p>
        </p:txBody>
      </p:sp>
      <p:sp>
        <p:nvSpPr>
          <p:cNvPr id="204" name="s205"/>
          <p:cNvSpPr/>
          <p:nvPr/>
        </p:nvSpPr>
        <p:spPr>
          <a:xfrm>
            <a:off x="457200" y="4381500"/>
            <a:ext cx="8255000" cy="19050"/>
          </a:xfrm>
          <a:prstGeom prst="rect">
            <a:avLst/>
          </a:prstGeom>
          <a:solidFill>
            <a:srgbClr val="E9E9E9"/>
          </a:solidFill>
        </p:spPr>
        <p:txBody>
          <a:bodyPr wrap="square" lIns="73152" tIns="9144" rIns="73152" bIns="9144" rtlCol="1" anchor="ctr">
            <a:normAutofit fontScale="25000" lnSpcReduction="20000"/>
          </a:bodyPr>
          <a:lstStyle/>
          <a:p>
            <a:endParaRPr lang="ar-SA"/>
          </a:p>
        </p:txBody>
      </p:sp>
      <p:sp>
        <p:nvSpPr>
          <p:cNvPr id="205" name="s206"/>
          <p:cNvSpPr/>
          <p:nvPr/>
        </p:nvSpPr>
        <p:spPr>
          <a:xfrm>
            <a:off x="457200" y="4991100"/>
            <a:ext cx="8255000" cy="19050"/>
          </a:xfrm>
          <a:prstGeom prst="rect">
            <a:avLst/>
          </a:prstGeom>
          <a:solidFill>
            <a:srgbClr val="E9E9E9"/>
          </a:solidFill>
        </p:spPr>
        <p:txBody>
          <a:bodyPr wrap="square" lIns="73152" tIns="9144" rIns="73152" bIns="9144" rtlCol="1" anchor="ctr">
            <a:normAutofit fontScale="25000" lnSpcReduction="20000"/>
          </a:bodyPr>
          <a:lstStyle/>
          <a:p>
            <a:endParaRPr lang="ar-SA"/>
          </a:p>
        </p:txBody>
      </p:sp>
      <p:sp>
        <p:nvSpPr>
          <p:cNvPr id="206" name="s207"/>
          <p:cNvSpPr/>
          <p:nvPr/>
        </p:nvSpPr>
        <p:spPr>
          <a:xfrm>
            <a:off x="7820378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فبراير</a:t>
            </a:r>
          </a:p>
        </p:txBody>
      </p:sp>
      <p:sp>
        <p:nvSpPr>
          <p:cNvPr id="207" name="s208"/>
          <p:cNvSpPr/>
          <p:nvPr/>
        </p:nvSpPr>
        <p:spPr>
          <a:xfrm>
            <a:off x="6903156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مارس</a:t>
            </a:r>
          </a:p>
        </p:txBody>
      </p:sp>
      <p:sp>
        <p:nvSpPr>
          <p:cNvPr id="208" name="s209"/>
          <p:cNvSpPr/>
          <p:nvPr/>
        </p:nvSpPr>
        <p:spPr>
          <a:xfrm>
            <a:off x="5985933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أبريل</a:t>
            </a:r>
          </a:p>
        </p:txBody>
      </p:sp>
      <p:sp>
        <p:nvSpPr>
          <p:cNvPr id="209" name="s210"/>
          <p:cNvSpPr/>
          <p:nvPr/>
        </p:nvSpPr>
        <p:spPr>
          <a:xfrm>
            <a:off x="5068711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مايو</a:t>
            </a:r>
          </a:p>
        </p:txBody>
      </p:sp>
      <p:sp>
        <p:nvSpPr>
          <p:cNvPr id="210" name="s211"/>
          <p:cNvSpPr/>
          <p:nvPr/>
        </p:nvSpPr>
        <p:spPr>
          <a:xfrm>
            <a:off x="4151489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يونيو</a:t>
            </a:r>
          </a:p>
        </p:txBody>
      </p:sp>
      <p:sp>
        <p:nvSpPr>
          <p:cNvPr id="211" name="s212"/>
          <p:cNvSpPr/>
          <p:nvPr/>
        </p:nvSpPr>
        <p:spPr>
          <a:xfrm>
            <a:off x="3234267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يوليو</a:t>
            </a:r>
          </a:p>
        </p:txBody>
      </p:sp>
      <p:sp>
        <p:nvSpPr>
          <p:cNvPr id="212" name="s213"/>
          <p:cNvSpPr/>
          <p:nvPr/>
        </p:nvSpPr>
        <p:spPr>
          <a:xfrm>
            <a:off x="2317044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أغسطس</a:t>
            </a:r>
          </a:p>
        </p:txBody>
      </p:sp>
      <p:sp>
        <p:nvSpPr>
          <p:cNvPr id="213" name="s214"/>
          <p:cNvSpPr/>
          <p:nvPr/>
        </p:nvSpPr>
        <p:spPr>
          <a:xfrm>
            <a:off x="1399822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سبتمبر</a:t>
            </a:r>
          </a:p>
        </p:txBody>
      </p:sp>
      <p:sp>
        <p:nvSpPr>
          <p:cNvPr id="214" name="s215"/>
          <p:cNvSpPr/>
          <p:nvPr/>
        </p:nvSpPr>
        <p:spPr>
          <a:xfrm>
            <a:off x="482600" y="1981200"/>
            <a:ext cx="866422" cy="5334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أكتوبر</a:t>
            </a:r>
          </a:p>
        </p:txBody>
      </p:sp>
      <p:sp>
        <p:nvSpPr>
          <p:cNvPr id="215" name="s216"/>
          <p:cNvSpPr/>
          <p:nvPr/>
        </p:nvSpPr>
        <p:spPr>
          <a:xfrm>
            <a:off x="8712200" y="1981200"/>
            <a:ext cx="3022600" cy="533400"/>
          </a:xfrm>
          <a:prstGeom prst="roundRect">
            <a:avLst/>
          </a:prstGeom>
          <a:solidFill>
            <a:srgbClr val="2A1A5E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600" b="1" dirty="0">
                <a:solidFill>
                  <a:srgbClr val="FFFFFF"/>
                </a:solidFill>
              </a:rPr>
              <a:t>الوصف</a:t>
            </a:r>
          </a:p>
        </p:txBody>
      </p:sp>
      <p:sp>
        <p:nvSpPr>
          <p:cNvPr id="216" name="s217"/>
          <p:cNvSpPr/>
          <p:nvPr/>
        </p:nvSpPr>
        <p:spPr>
          <a:xfrm>
            <a:off x="8737600" y="2590800"/>
            <a:ext cx="2159000" cy="558800"/>
          </a:xfrm>
          <a:prstGeom prst="roundRect">
            <a:avLst/>
          </a:prstGeom>
          <a:solidFill>
            <a:srgbClr val="EDE8FF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2A1A5E"/>
                </a:solidFill>
              </a:rPr>
              <a:t>مراجعة النظام الحالي والهيكلة</a:t>
            </a:r>
          </a:p>
        </p:txBody>
      </p:sp>
      <p:sp>
        <p:nvSpPr>
          <p:cNvPr id="217" name="s218"/>
          <p:cNvSpPr/>
          <p:nvPr/>
        </p:nvSpPr>
        <p:spPr>
          <a:xfrm>
            <a:off x="7844467" y="2755900"/>
            <a:ext cx="114300" cy="2286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 fontScale="85000" lnSpcReduction="20000"/>
          </a:bodyPr>
          <a:lstStyle/>
          <a:p>
            <a:endParaRPr lang="ar-SA"/>
          </a:p>
        </p:txBody>
      </p:sp>
      <p:sp>
        <p:nvSpPr>
          <p:cNvPr id="218" name="s219"/>
          <p:cNvSpPr/>
          <p:nvPr/>
        </p:nvSpPr>
        <p:spPr>
          <a:xfrm>
            <a:off x="5939467" y="2705100"/>
            <a:ext cx="1828800" cy="330200"/>
          </a:xfrm>
          <a:prstGeom prst="rect">
            <a:avLst/>
          </a:prstGeom>
          <a:noFill/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007297"/>
                </a:solidFill>
              </a:rPr>
              <a:t>24 – 26 فبراير</a:t>
            </a:r>
          </a:p>
        </p:txBody>
      </p:sp>
      <p:sp>
        <p:nvSpPr>
          <p:cNvPr id="219" name="s220"/>
          <p:cNvSpPr/>
          <p:nvPr/>
        </p:nvSpPr>
        <p:spPr>
          <a:xfrm>
            <a:off x="8737600" y="3200400"/>
            <a:ext cx="2159000" cy="558800"/>
          </a:xfrm>
          <a:prstGeom prst="roundRect">
            <a:avLst/>
          </a:prstGeom>
          <a:solidFill>
            <a:srgbClr val="EDE8FF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2A1A5E"/>
                </a:solidFill>
              </a:rPr>
              <a:t>تحديد التحديات والمخاطر المحتملة</a:t>
            </a:r>
          </a:p>
        </p:txBody>
      </p:sp>
      <p:sp>
        <p:nvSpPr>
          <p:cNvPr id="220" name="s221"/>
          <p:cNvSpPr/>
          <p:nvPr/>
        </p:nvSpPr>
        <p:spPr>
          <a:xfrm>
            <a:off x="7844467" y="3365500"/>
            <a:ext cx="114300" cy="2286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 fontScale="85000" lnSpcReduction="20000"/>
          </a:bodyPr>
          <a:lstStyle/>
          <a:p>
            <a:endParaRPr lang="ar-SA"/>
          </a:p>
        </p:txBody>
      </p:sp>
      <p:sp>
        <p:nvSpPr>
          <p:cNvPr id="221" name="s222"/>
          <p:cNvSpPr/>
          <p:nvPr/>
        </p:nvSpPr>
        <p:spPr>
          <a:xfrm>
            <a:off x="5939467" y="3314700"/>
            <a:ext cx="1828800" cy="330200"/>
          </a:xfrm>
          <a:prstGeom prst="rect">
            <a:avLst/>
          </a:prstGeom>
          <a:noFill/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007297"/>
                </a:solidFill>
              </a:rPr>
              <a:t>24 – 26 فبراير</a:t>
            </a:r>
          </a:p>
        </p:txBody>
      </p:sp>
      <p:sp>
        <p:nvSpPr>
          <p:cNvPr id="222" name="s223"/>
          <p:cNvSpPr/>
          <p:nvPr/>
        </p:nvSpPr>
        <p:spPr>
          <a:xfrm>
            <a:off x="8737600" y="3810000"/>
            <a:ext cx="2159000" cy="558800"/>
          </a:xfrm>
          <a:prstGeom prst="roundRect">
            <a:avLst/>
          </a:prstGeom>
          <a:solidFill>
            <a:srgbClr val="EDE8FF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2A1A5E"/>
                </a:solidFill>
              </a:rPr>
              <a:t>إعداد خطة العمل</a:t>
            </a:r>
          </a:p>
        </p:txBody>
      </p:sp>
      <p:sp>
        <p:nvSpPr>
          <p:cNvPr id="223" name="s224"/>
          <p:cNvSpPr/>
          <p:nvPr/>
        </p:nvSpPr>
        <p:spPr>
          <a:xfrm>
            <a:off x="7469512" y="3975100"/>
            <a:ext cx="489256" cy="2286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 fontScale="85000" lnSpcReduction="20000"/>
          </a:bodyPr>
          <a:lstStyle/>
          <a:p>
            <a:endParaRPr lang="ar-SA"/>
          </a:p>
        </p:txBody>
      </p:sp>
      <p:sp>
        <p:nvSpPr>
          <p:cNvPr id="224" name="s225"/>
          <p:cNvSpPr/>
          <p:nvPr/>
        </p:nvSpPr>
        <p:spPr>
          <a:xfrm>
            <a:off x="5564512" y="3924300"/>
            <a:ext cx="1828800" cy="330200"/>
          </a:xfrm>
          <a:prstGeom prst="rect">
            <a:avLst/>
          </a:prstGeom>
          <a:noFill/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007297"/>
                </a:solidFill>
              </a:rPr>
              <a:t>24 فبراير – 12 مارس</a:t>
            </a:r>
          </a:p>
        </p:txBody>
      </p:sp>
      <p:sp>
        <p:nvSpPr>
          <p:cNvPr id="225" name="s226"/>
          <p:cNvSpPr/>
          <p:nvPr/>
        </p:nvSpPr>
        <p:spPr>
          <a:xfrm>
            <a:off x="8737600" y="4419600"/>
            <a:ext cx="2159000" cy="558800"/>
          </a:xfrm>
          <a:prstGeom prst="roundRect">
            <a:avLst/>
          </a:prstGeom>
          <a:solidFill>
            <a:srgbClr val="EDE8FF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2A1A5E"/>
                </a:solidFill>
              </a:rPr>
              <a:t>تجهيز بيئة التطوير</a:t>
            </a:r>
          </a:p>
        </p:txBody>
      </p:sp>
      <p:sp>
        <p:nvSpPr>
          <p:cNvPr id="226" name="s227"/>
          <p:cNvSpPr/>
          <p:nvPr/>
        </p:nvSpPr>
        <p:spPr>
          <a:xfrm>
            <a:off x="7735802" y="4584700"/>
            <a:ext cx="190207" cy="2286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 fontScale="85000" lnSpcReduction="20000"/>
          </a:bodyPr>
          <a:lstStyle/>
          <a:p>
            <a:endParaRPr lang="ar-SA"/>
          </a:p>
        </p:txBody>
      </p:sp>
      <p:sp>
        <p:nvSpPr>
          <p:cNvPr id="227" name="s228"/>
          <p:cNvSpPr/>
          <p:nvPr/>
        </p:nvSpPr>
        <p:spPr>
          <a:xfrm>
            <a:off x="5830802" y="4533900"/>
            <a:ext cx="1828800" cy="330200"/>
          </a:xfrm>
          <a:prstGeom prst="rect">
            <a:avLst/>
          </a:prstGeom>
          <a:noFill/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007297"/>
                </a:solidFill>
              </a:rPr>
              <a:t>25 فبراير – 3 مارس</a:t>
            </a:r>
          </a:p>
        </p:txBody>
      </p:sp>
      <p:sp>
        <p:nvSpPr>
          <p:cNvPr id="228" name="s229"/>
          <p:cNvSpPr/>
          <p:nvPr/>
        </p:nvSpPr>
        <p:spPr>
          <a:xfrm>
            <a:off x="8737600" y="5029200"/>
            <a:ext cx="2159000" cy="558800"/>
          </a:xfrm>
          <a:prstGeom prst="roundRect">
            <a:avLst/>
          </a:prstGeom>
          <a:solidFill>
            <a:srgbClr val="EDE8FF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2A1A5E"/>
                </a:solidFill>
              </a:rPr>
              <a:t>تحديد بيانات الحسابات البنكية والضريبة</a:t>
            </a:r>
          </a:p>
        </p:txBody>
      </p:sp>
      <p:sp>
        <p:nvSpPr>
          <p:cNvPr id="229" name="s230"/>
          <p:cNvSpPr/>
          <p:nvPr/>
        </p:nvSpPr>
        <p:spPr>
          <a:xfrm>
            <a:off x="6113404" y="5194300"/>
            <a:ext cx="1845364" cy="228600"/>
          </a:xfrm>
          <a:prstGeom prst="roundRect">
            <a:avLst/>
          </a:prstGeom>
          <a:solidFill>
            <a:srgbClr val="5E2EE8"/>
          </a:solidFill>
        </p:spPr>
        <p:txBody>
          <a:bodyPr wrap="square" lIns="73152" tIns="9144" rIns="73152" bIns="9144" rtlCol="1" anchor="ctr">
            <a:normAutofit fontScale="85000" lnSpcReduction="20000"/>
          </a:bodyPr>
          <a:lstStyle/>
          <a:p>
            <a:endParaRPr lang="ar-SA"/>
          </a:p>
        </p:txBody>
      </p:sp>
      <p:sp>
        <p:nvSpPr>
          <p:cNvPr id="230" name="s231"/>
          <p:cNvSpPr/>
          <p:nvPr/>
        </p:nvSpPr>
        <p:spPr>
          <a:xfrm>
            <a:off x="4208404" y="5143500"/>
            <a:ext cx="1828800" cy="330200"/>
          </a:xfrm>
          <a:prstGeom prst="rect">
            <a:avLst/>
          </a:prstGeom>
          <a:noFill/>
        </p:spPr>
        <p:txBody>
          <a:bodyPr wrap="square" lIns="73152" tIns="9144" rIns="73152" bIns="9144" rtlCol="1" anchor="ctr">
            <a:normAutofit/>
          </a:bodyPr>
          <a:lstStyle/>
          <a:p>
            <a:pPr algn="r" rtl="1"/>
            <a:r>
              <a:rPr lang="ar-SA" sz="1300" b="1" dirty="0">
                <a:solidFill>
                  <a:srgbClr val="007297"/>
                </a:solidFill>
              </a:rPr>
              <a:t>24 فبراير – 26 أبريل</a:t>
            </a:r>
          </a:p>
        </p:txBody>
      </p:sp>
      <p:sp>
        <p:nvSpPr>
          <p:cNvPr id="231" name="s232"/>
          <p:cNvSpPr/>
          <p:nvPr/>
        </p:nvSpPr>
        <p:spPr>
          <a:xfrm>
            <a:off x="10896600" y="2590800"/>
            <a:ext cx="838200" cy="1168400"/>
          </a:xfrm>
          <a:prstGeom prst="roundRect">
            <a:avLst/>
          </a:prstGeom>
          <a:solidFill>
            <a:srgbClr val="2A1A5E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600" b="1" dirty="0">
                <a:solidFill>
                  <a:srgbClr val="FFFFFF"/>
                </a:solidFill>
              </a:rPr>
              <a:t>التقييم</a:t>
            </a:r>
          </a:p>
        </p:txBody>
      </p:sp>
      <p:sp>
        <p:nvSpPr>
          <p:cNvPr id="232" name="s233"/>
          <p:cNvSpPr/>
          <p:nvPr/>
        </p:nvSpPr>
        <p:spPr>
          <a:xfrm>
            <a:off x="10896600" y="3810000"/>
            <a:ext cx="838200" cy="1778000"/>
          </a:xfrm>
          <a:prstGeom prst="roundRect">
            <a:avLst/>
          </a:prstGeom>
          <a:solidFill>
            <a:srgbClr val="2A1A5E"/>
          </a:solidFill>
        </p:spPr>
        <p:txBody>
          <a:bodyPr wrap="square" lIns="73152" tIns="9144" rIns="73152" bIns="9144" rtlCol="1" anchor="ctr">
            <a:normAutofit/>
          </a:bodyPr>
          <a:lstStyle/>
          <a:p>
            <a:pPr algn="ctr" rtl="1"/>
            <a:r>
              <a:rPr lang="ar-SA" sz="1600" b="1" dirty="0">
                <a:solidFill>
                  <a:srgbClr val="FFFFFF"/>
                </a:solidFill>
              </a:rPr>
              <a:t>التحضير</a:t>
            </a:r>
          </a:p>
        </p:txBody>
      </p:sp>
      <p:grpSp>
        <p:nvGrpSpPr>
          <p:cNvPr id="2" name="Status Legend">
            <a:extLst>
              <a:ext uri="{FF2B5EF4-FFF2-40B4-BE49-F238E27FC236}">
                <a16:creationId xmlns:a16="http://schemas.microsoft.com/office/drawing/2014/main" id="{C2722020-3F7F-5A65-A786-D1E05862965C}"/>
              </a:ext>
            </a:extLst>
          </p:cNvPr>
          <p:cNvGrpSpPr/>
          <p:nvPr/>
        </p:nvGrpSpPr>
        <p:grpSpPr>
          <a:xfrm>
            <a:off x="374260" y="5975383"/>
            <a:ext cx="4548105" cy="269295"/>
            <a:chOff x="1905000" y="6350000"/>
            <a:chExt cx="8382000" cy="381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4205E88-6881-A33D-2552-3F9502EF93B4}"/>
                </a:ext>
              </a:extLst>
            </p:cNvPr>
            <p:cNvSpPr/>
            <p:nvPr/>
          </p:nvSpPr>
          <p:spPr>
            <a:xfrm>
              <a:off x="1905000" y="6350000"/>
              <a:ext cx="8382000" cy="381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D0D0D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322A8BF-401C-66E9-9730-C9F365731D69}"/>
                </a:ext>
              </a:extLst>
            </p:cNvPr>
            <p:cNvSpPr/>
            <p:nvPr/>
          </p:nvSpPr>
          <p:spPr>
            <a:xfrm>
              <a:off x="8712200" y="6464300"/>
              <a:ext cx="152400" cy="152400"/>
            </a:xfrm>
            <a:prstGeom prst="ellipse">
              <a:avLst/>
            </a:prstGeom>
            <a:solidFill>
              <a:srgbClr val="A0A0A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BB030D3-4FB1-4218-6F99-A1B41C1244E0}"/>
                </a:ext>
              </a:extLst>
            </p:cNvPr>
            <p:cNvSpPr txBox="1"/>
            <p:nvPr/>
          </p:nvSpPr>
          <p:spPr>
            <a:xfrm>
              <a:off x="89154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لم يبدأ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A6875B-E114-2717-0DDF-D5299B1D31E3}"/>
                </a:ext>
              </a:extLst>
            </p:cNvPr>
            <p:cNvSpPr/>
            <p:nvPr/>
          </p:nvSpPr>
          <p:spPr>
            <a:xfrm>
              <a:off x="7035800" y="6464300"/>
              <a:ext cx="152400" cy="152400"/>
            </a:xfrm>
            <a:prstGeom prst="ellipse">
              <a:avLst/>
            </a:prstGeom>
            <a:solidFill>
              <a:srgbClr val="F2C94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B196055-D8C3-62DD-076F-6441F2709BCC}"/>
                </a:ext>
              </a:extLst>
            </p:cNvPr>
            <p:cNvSpPr txBox="1"/>
            <p:nvPr/>
          </p:nvSpPr>
          <p:spPr>
            <a:xfrm>
              <a:off x="72390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 قليلاً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B0AAE9B-6EBC-2901-DA42-9F00F871E2AF}"/>
                </a:ext>
              </a:extLst>
            </p:cNvPr>
            <p:cNvSpPr/>
            <p:nvPr/>
          </p:nvSpPr>
          <p:spPr>
            <a:xfrm>
              <a:off x="5359400" y="6464300"/>
              <a:ext cx="152400" cy="152400"/>
            </a:xfrm>
            <a:prstGeom prst="ellipse">
              <a:avLst/>
            </a:prstGeom>
            <a:solidFill>
              <a:srgbClr val="2E9E47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10A295-16BB-D427-BA89-157B4038EF28}"/>
                </a:ext>
              </a:extLst>
            </p:cNvPr>
            <p:cNvSpPr txBox="1"/>
            <p:nvPr/>
          </p:nvSpPr>
          <p:spPr>
            <a:xfrm>
              <a:off x="55626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تحت الاجراء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511B637-CB9F-CC62-1271-046FC8F00451}"/>
                </a:ext>
              </a:extLst>
            </p:cNvPr>
            <p:cNvSpPr/>
            <p:nvPr/>
          </p:nvSpPr>
          <p:spPr>
            <a:xfrm>
              <a:off x="3683000" y="6464300"/>
              <a:ext cx="152400" cy="152400"/>
            </a:xfrm>
            <a:prstGeom prst="ellipse">
              <a:avLst/>
            </a:prstGeom>
            <a:solidFill>
              <a:srgbClr val="2D8C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7C2880-05C3-337D-2722-DFD83FE8FB08}"/>
                </a:ext>
              </a:extLst>
            </p:cNvPr>
            <p:cNvSpPr txBox="1"/>
            <p:nvPr/>
          </p:nvSpPr>
          <p:spPr>
            <a:xfrm>
              <a:off x="38862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مكتمل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27696BC-5337-ADBF-51FD-02799750CD7D}"/>
                </a:ext>
              </a:extLst>
            </p:cNvPr>
            <p:cNvSpPr/>
            <p:nvPr/>
          </p:nvSpPr>
          <p:spPr>
            <a:xfrm>
              <a:off x="2006600" y="6464300"/>
              <a:ext cx="152400" cy="152400"/>
            </a:xfrm>
            <a:prstGeom prst="ellipse">
              <a:avLst/>
            </a:prstGeom>
            <a:solidFill>
              <a:srgbClr val="E6394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6F3221-BE89-2635-B216-F9E0A80CB11D}"/>
                </a:ext>
              </a:extLst>
            </p:cNvPr>
            <p:cNvSpPr txBox="1"/>
            <p:nvPr/>
          </p:nvSpPr>
          <p:spPr>
            <a:xfrm>
              <a:off x="22098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7098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98576-7E1C-20BB-A01E-0703C4A3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7808349" y="248920"/>
            <a:ext cx="2540000" cy="330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400" b="1" dirty="0">
                <a:solidFill>
                  <a:srgbClr val="5E2EE8"/>
                </a:solidFill>
                <a:latin typeface="+mj-lt"/>
              </a:rPr>
              <a:t>المرحلة الثانية</a:t>
            </a:r>
          </a:p>
        </p:txBody>
      </p:sp>
      <p:sp>
        <p:nvSpPr>
          <p:cNvPr id="201" name="s202"/>
          <p:cNvSpPr/>
          <p:nvPr/>
        </p:nvSpPr>
        <p:spPr>
          <a:xfrm>
            <a:off x="1495425" y="337820"/>
            <a:ext cx="5842000" cy="6350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2000" b="1" dirty="0">
                <a:solidFill>
                  <a:schemeClr val="bg1"/>
                </a:solidFill>
                <a:latin typeface="+mj-lt"/>
              </a:rPr>
              <a:t>اعداد وتطوير </a:t>
            </a:r>
            <a:r>
              <a:rPr lang="ar-SA" sz="2000" b="1" dirty="0">
                <a:solidFill>
                  <a:schemeClr val="bg1"/>
                </a:solidFill>
                <a:latin typeface="+mj-lt"/>
                <a:cs typeface="DIN Next LT Arabic" panose="020B0803020203050203" pitchFamily="34" charset="-78"/>
              </a:rPr>
              <a:t>النظام</a:t>
            </a:r>
            <a:r>
              <a:rPr lang="ar-SA" sz="2000" b="1" dirty="0">
                <a:solidFill>
                  <a:schemeClr val="bg1"/>
                </a:solidFill>
                <a:latin typeface="+mj-lt"/>
              </a:rPr>
              <a:t> الجديد</a:t>
            </a:r>
          </a:p>
        </p:txBody>
      </p:sp>
      <p:sp>
        <p:nvSpPr>
          <p:cNvPr id="202" name="s203"/>
          <p:cNvSpPr/>
          <p:nvPr/>
        </p:nvSpPr>
        <p:spPr>
          <a:xfrm>
            <a:off x="457200" y="24257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03" name="s204"/>
          <p:cNvSpPr/>
          <p:nvPr/>
        </p:nvSpPr>
        <p:spPr>
          <a:xfrm>
            <a:off x="457200" y="29083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04" name="s205"/>
          <p:cNvSpPr/>
          <p:nvPr/>
        </p:nvSpPr>
        <p:spPr>
          <a:xfrm>
            <a:off x="457200" y="33909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05" name="s206"/>
          <p:cNvSpPr/>
          <p:nvPr/>
        </p:nvSpPr>
        <p:spPr>
          <a:xfrm>
            <a:off x="457200" y="38735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06" name="s207"/>
          <p:cNvSpPr/>
          <p:nvPr/>
        </p:nvSpPr>
        <p:spPr>
          <a:xfrm>
            <a:off x="457200" y="43561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07" name="s208"/>
          <p:cNvSpPr/>
          <p:nvPr/>
        </p:nvSpPr>
        <p:spPr>
          <a:xfrm>
            <a:off x="457200" y="48387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08" name="s209"/>
          <p:cNvSpPr/>
          <p:nvPr/>
        </p:nvSpPr>
        <p:spPr>
          <a:xfrm>
            <a:off x="457200" y="53213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09" name="s210"/>
          <p:cNvSpPr/>
          <p:nvPr/>
        </p:nvSpPr>
        <p:spPr>
          <a:xfrm>
            <a:off x="457200" y="58039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10" name="s211"/>
          <p:cNvSpPr/>
          <p:nvPr/>
        </p:nvSpPr>
        <p:spPr>
          <a:xfrm>
            <a:off x="757237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مارس</a:t>
            </a:r>
          </a:p>
        </p:txBody>
      </p:sp>
      <p:sp>
        <p:nvSpPr>
          <p:cNvPr id="211" name="s212"/>
          <p:cNvSpPr/>
          <p:nvPr/>
        </p:nvSpPr>
        <p:spPr>
          <a:xfrm>
            <a:off x="655955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أبريل</a:t>
            </a:r>
          </a:p>
        </p:txBody>
      </p:sp>
      <p:sp>
        <p:nvSpPr>
          <p:cNvPr id="212" name="s213"/>
          <p:cNvSpPr/>
          <p:nvPr/>
        </p:nvSpPr>
        <p:spPr>
          <a:xfrm>
            <a:off x="554672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مايو</a:t>
            </a:r>
          </a:p>
        </p:txBody>
      </p:sp>
      <p:sp>
        <p:nvSpPr>
          <p:cNvPr id="213" name="s214"/>
          <p:cNvSpPr/>
          <p:nvPr/>
        </p:nvSpPr>
        <p:spPr>
          <a:xfrm>
            <a:off x="453390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يونيو</a:t>
            </a:r>
          </a:p>
        </p:txBody>
      </p:sp>
      <p:sp>
        <p:nvSpPr>
          <p:cNvPr id="214" name="s215"/>
          <p:cNvSpPr/>
          <p:nvPr/>
        </p:nvSpPr>
        <p:spPr>
          <a:xfrm>
            <a:off x="352107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يوليو</a:t>
            </a:r>
          </a:p>
        </p:txBody>
      </p:sp>
      <p:sp>
        <p:nvSpPr>
          <p:cNvPr id="215" name="s216"/>
          <p:cNvSpPr/>
          <p:nvPr/>
        </p:nvSpPr>
        <p:spPr>
          <a:xfrm>
            <a:off x="250825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أغسطس</a:t>
            </a:r>
          </a:p>
        </p:txBody>
      </p:sp>
      <p:sp>
        <p:nvSpPr>
          <p:cNvPr id="216" name="s217"/>
          <p:cNvSpPr/>
          <p:nvPr/>
        </p:nvSpPr>
        <p:spPr>
          <a:xfrm>
            <a:off x="149542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سبتمبر</a:t>
            </a:r>
          </a:p>
        </p:txBody>
      </p:sp>
      <p:sp>
        <p:nvSpPr>
          <p:cNvPr id="217" name="s218"/>
          <p:cNvSpPr/>
          <p:nvPr/>
        </p:nvSpPr>
        <p:spPr>
          <a:xfrm>
            <a:off x="48260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  <a:latin typeface="+mj-lt"/>
              </a:rPr>
              <a:t>أكتوبر</a:t>
            </a:r>
          </a:p>
        </p:txBody>
      </p:sp>
      <p:sp>
        <p:nvSpPr>
          <p:cNvPr id="218" name="s219"/>
          <p:cNvSpPr/>
          <p:nvPr/>
        </p:nvSpPr>
        <p:spPr>
          <a:xfrm>
            <a:off x="8610600" y="1524000"/>
            <a:ext cx="3124200" cy="381000"/>
          </a:xfrm>
          <a:prstGeom prst="roundRect">
            <a:avLst/>
          </a:prstGeom>
          <a:solidFill>
            <a:srgbClr val="1C1340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  <a:latin typeface="+mj-lt"/>
              </a:rPr>
              <a:t>الوصف</a:t>
            </a:r>
          </a:p>
        </p:txBody>
      </p:sp>
      <p:sp>
        <p:nvSpPr>
          <p:cNvPr id="219" name="s220"/>
          <p:cNvSpPr/>
          <p:nvPr/>
        </p:nvSpPr>
        <p:spPr>
          <a:xfrm>
            <a:off x="8610600" y="19812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/>
            <a:endParaRPr lang="ar-SA" dirty="0">
              <a:latin typeface="+mj-lt"/>
            </a:endParaRPr>
          </a:p>
        </p:txBody>
      </p:sp>
      <p:sp>
        <p:nvSpPr>
          <p:cNvPr id="220" name="s221"/>
          <p:cNvSpPr/>
          <p:nvPr/>
        </p:nvSpPr>
        <p:spPr>
          <a:xfrm>
            <a:off x="8610600" y="19812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01</a:t>
            </a:r>
          </a:p>
        </p:txBody>
      </p:sp>
      <p:sp>
        <p:nvSpPr>
          <p:cNvPr id="221" name="s222"/>
          <p:cNvSpPr/>
          <p:nvPr/>
        </p:nvSpPr>
        <p:spPr>
          <a:xfrm>
            <a:off x="8966200" y="19685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إعداد البيئة التقنية</a:t>
            </a:r>
          </a:p>
        </p:txBody>
      </p:sp>
      <p:sp>
        <p:nvSpPr>
          <p:cNvPr id="222" name="s223"/>
          <p:cNvSpPr/>
          <p:nvPr/>
        </p:nvSpPr>
        <p:spPr>
          <a:xfrm>
            <a:off x="8069723" y="2108200"/>
            <a:ext cx="490077" cy="1778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23" name="s224"/>
          <p:cNvSpPr/>
          <p:nvPr/>
        </p:nvSpPr>
        <p:spPr>
          <a:xfrm>
            <a:off x="6469523" y="20828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1 – 16 مارس</a:t>
            </a:r>
          </a:p>
        </p:txBody>
      </p:sp>
      <p:sp>
        <p:nvSpPr>
          <p:cNvPr id="224" name="s225"/>
          <p:cNvSpPr/>
          <p:nvPr/>
        </p:nvSpPr>
        <p:spPr>
          <a:xfrm>
            <a:off x="8610600" y="24638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25" name="s226"/>
          <p:cNvSpPr/>
          <p:nvPr/>
        </p:nvSpPr>
        <p:spPr>
          <a:xfrm>
            <a:off x="8610600" y="24638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02</a:t>
            </a:r>
          </a:p>
        </p:txBody>
      </p:sp>
      <p:sp>
        <p:nvSpPr>
          <p:cNvPr id="226" name="s227"/>
          <p:cNvSpPr/>
          <p:nvPr/>
        </p:nvSpPr>
        <p:spPr>
          <a:xfrm>
            <a:off x="8966200" y="24511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تحديث روابط البيئة الاختبارية وإنشاء روابط لصفحة الدفع</a:t>
            </a:r>
          </a:p>
        </p:txBody>
      </p:sp>
      <p:sp>
        <p:nvSpPr>
          <p:cNvPr id="227" name="s228"/>
          <p:cNvSpPr/>
          <p:nvPr/>
        </p:nvSpPr>
        <p:spPr>
          <a:xfrm>
            <a:off x="7546975" y="2590800"/>
            <a:ext cx="522748" cy="1778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28" name="s229"/>
          <p:cNvSpPr/>
          <p:nvPr/>
        </p:nvSpPr>
        <p:spPr>
          <a:xfrm>
            <a:off x="5946775" y="25654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16 مارس – 1 أبريل</a:t>
            </a:r>
          </a:p>
        </p:txBody>
      </p:sp>
      <p:sp>
        <p:nvSpPr>
          <p:cNvPr id="229" name="s230"/>
          <p:cNvSpPr/>
          <p:nvPr/>
        </p:nvSpPr>
        <p:spPr>
          <a:xfrm>
            <a:off x="8610600" y="29464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30" name="s231"/>
          <p:cNvSpPr/>
          <p:nvPr/>
        </p:nvSpPr>
        <p:spPr>
          <a:xfrm>
            <a:off x="8610600" y="29464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03</a:t>
            </a:r>
          </a:p>
        </p:txBody>
      </p:sp>
      <p:sp>
        <p:nvSpPr>
          <p:cNvPr id="231" name="s232"/>
          <p:cNvSpPr/>
          <p:nvPr/>
        </p:nvSpPr>
        <p:spPr>
          <a:xfrm>
            <a:off x="8966200" y="29337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تطوير الحسابات البنكية المتعددة</a:t>
            </a:r>
          </a:p>
        </p:txBody>
      </p:sp>
      <p:sp>
        <p:nvSpPr>
          <p:cNvPr id="232" name="s233"/>
          <p:cNvSpPr/>
          <p:nvPr/>
        </p:nvSpPr>
        <p:spPr>
          <a:xfrm>
            <a:off x="7040563" y="3073400"/>
            <a:ext cx="604428" cy="1778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33" name="s234"/>
          <p:cNvSpPr/>
          <p:nvPr/>
        </p:nvSpPr>
        <p:spPr>
          <a:xfrm>
            <a:off x="5440363" y="30480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29 مارس – 16 أبريل</a:t>
            </a:r>
          </a:p>
        </p:txBody>
      </p:sp>
      <p:sp>
        <p:nvSpPr>
          <p:cNvPr id="234" name="s235"/>
          <p:cNvSpPr/>
          <p:nvPr/>
        </p:nvSpPr>
        <p:spPr>
          <a:xfrm>
            <a:off x="8610600" y="34290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35" name="s236"/>
          <p:cNvSpPr/>
          <p:nvPr/>
        </p:nvSpPr>
        <p:spPr>
          <a:xfrm>
            <a:off x="8610600" y="34290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04</a:t>
            </a:r>
          </a:p>
        </p:txBody>
      </p:sp>
      <p:sp>
        <p:nvSpPr>
          <p:cNvPr id="236" name="s237"/>
          <p:cNvSpPr/>
          <p:nvPr/>
        </p:nvSpPr>
        <p:spPr>
          <a:xfrm>
            <a:off x="8966200" y="34163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تطوير الحسابات الضريبية المتعددة (80%)</a:t>
            </a:r>
          </a:p>
        </p:txBody>
      </p:sp>
      <p:sp>
        <p:nvSpPr>
          <p:cNvPr id="237" name="s238"/>
          <p:cNvSpPr/>
          <p:nvPr/>
        </p:nvSpPr>
        <p:spPr>
          <a:xfrm>
            <a:off x="5586669" y="3556000"/>
            <a:ext cx="1825263" cy="177800"/>
          </a:xfrm>
          <a:prstGeom prst="roundRect">
            <a:avLst/>
          </a:prstGeom>
          <a:solidFill>
            <a:srgbClr val="00B050"/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38" name="s239"/>
          <p:cNvSpPr/>
          <p:nvPr/>
        </p:nvSpPr>
        <p:spPr>
          <a:xfrm>
            <a:off x="3986469" y="35306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5 أبريل – 30 مايو</a:t>
            </a:r>
          </a:p>
        </p:txBody>
      </p:sp>
      <p:sp>
        <p:nvSpPr>
          <p:cNvPr id="239" name="s240"/>
          <p:cNvSpPr/>
          <p:nvPr/>
        </p:nvSpPr>
        <p:spPr>
          <a:xfrm>
            <a:off x="8610600" y="39116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40" name="s241"/>
          <p:cNvSpPr/>
          <p:nvPr/>
        </p:nvSpPr>
        <p:spPr>
          <a:xfrm>
            <a:off x="8610600" y="39116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05</a:t>
            </a:r>
          </a:p>
        </p:txBody>
      </p:sp>
      <p:sp>
        <p:nvSpPr>
          <p:cNvPr id="241" name="s242"/>
          <p:cNvSpPr/>
          <p:nvPr/>
        </p:nvSpPr>
        <p:spPr>
          <a:xfrm>
            <a:off x="8966200" y="38989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تطوير حسابات سداد متعددة (20%)</a:t>
            </a:r>
          </a:p>
        </p:txBody>
      </p:sp>
      <p:sp>
        <p:nvSpPr>
          <p:cNvPr id="242" name="s243"/>
          <p:cNvSpPr/>
          <p:nvPr/>
        </p:nvSpPr>
        <p:spPr>
          <a:xfrm>
            <a:off x="5586669" y="4038600"/>
            <a:ext cx="1285090" cy="177800"/>
          </a:xfrm>
          <a:prstGeom prst="roundRect">
            <a:avLst/>
          </a:prstGeom>
          <a:solidFill>
            <a:srgbClr val="00B050"/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43" name="s244"/>
          <p:cNvSpPr/>
          <p:nvPr/>
        </p:nvSpPr>
        <p:spPr>
          <a:xfrm>
            <a:off x="3986469" y="40132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21 أبريل – 30 مايو</a:t>
            </a:r>
          </a:p>
        </p:txBody>
      </p:sp>
      <p:sp>
        <p:nvSpPr>
          <p:cNvPr id="244" name="s245"/>
          <p:cNvSpPr/>
          <p:nvPr/>
        </p:nvSpPr>
        <p:spPr>
          <a:xfrm>
            <a:off x="8610600" y="43942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45" name="s246"/>
          <p:cNvSpPr/>
          <p:nvPr/>
        </p:nvSpPr>
        <p:spPr>
          <a:xfrm>
            <a:off x="8610600" y="43942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06</a:t>
            </a:r>
          </a:p>
        </p:txBody>
      </p:sp>
      <p:sp>
        <p:nvSpPr>
          <p:cNvPr id="246" name="s247"/>
          <p:cNvSpPr/>
          <p:nvPr/>
        </p:nvSpPr>
        <p:spPr>
          <a:xfrm>
            <a:off x="8966200" y="43815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إنشاء السيرفرات</a:t>
            </a:r>
          </a:p>
        </p:txBody>
      </p:sp>
      <p:sp>
        <p:nvSpPr>
          <p:cNvPr id="247" name="s248"/>
          <p:cNvSpPr/>
          <p:nvPr/>
        </p:nvSpPr>
        <p:spPr>
          <a:xfrm>
            <a:off x="4051095" y="4521200"/>
            <a:ext cx="3023228" cy="177800"/>
          </a:xfrm>
          <a:prstGeom prst="roundRect">
            <a:avLst/>
          </a:prstGeom>
          <a:solidFill>
            <a:srgbClr val="FF0000"/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48" name="s249"/>
          <p:cNvSpPr/>
          <p:nvPr/>
        </p:nvSpPr>
        <p:spPr>
          <a:xfrm>
            <a:off x="2450895" y="44958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15 أبريل – 15 يوليو</a:t>
            </a:r>
          </a:p>
        </p:txBody>
      </p:sp>
      <p:sp>
        <p:nvSpPr>
          <p:cNvPr id="249" name="s250"/>
          <p:cNvSpPr/>
          <p:nvPr/>
        </p:nvSpPr>
        <p:spPr>
          <a:xfrm>
            <a:off x="8610600" y="48768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50" name="s251"/>
          <p:cNvSpPr/>
          <p:nvPr/>
        </p:nvSpPr>
        <p:spPr>
          <a:xfrm>
            <a:off x="8610600" y="48768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07</a:t>
            </a:r>
          </a:p>
        </p:txBody>
      </p:sp>
      <p:sp>
        <p:nvSpPr>
          <p:cNvPr id="251" name="s252"/>
          <p:cNvSpPr/>
          <p:nvPr/>
        </p:nvSpPr>
        <p:spPr>
          <a:xfrm>
            <a:off x="8966200" y="48641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تجهيز البيئة الحية</a:t>
            </a:r>
          </a:p>
          <a:p>
            <a:pPr algn="r" rtl="1"/>
            <a:r>
              <a:rPr lang="ar-SA" sz="1000" b="0" dirty="0">
                <a:solidFill>
                  <a:srgbClr val="1C1340"/>
                </a:solidFill>
                <a:latin typeface="+mj-lt"/>
              </a:rPr>
              <a:t>البنية التحتية · التكاملات</a:t>
            </a:r>
          </a:p>
        </p:txBody>
      </p:sp>
      <p:sp>
        <p:nvSpPr>
          <p:cNvPr id="253" name="s254"/>
          <p:cNvSpPr/>
          <p:nvPr/>
        </p:nvSpPr>
        <p:spPr>
          <a:xfrm>
            <a:off x="1438070" y="49784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15 يوليو – 15 أغسطس</a:t>
            </a:r>
          </a:p>
        </p:txBody>
      </p:sp>
      <p:sp>
        <p:nvSpPr>
          <p:cNvPr id="254" name="s255"/>
          <p:cNvSpPr/>
          <p:nvPr/>
        </p:nvSpPr>
        <p:spPr>
          <a:xfrm>
            <a:off x="8610600" y="53594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55" name="s256"/>
          <p:cNvSpPr/>
          <p:nvPr/>
        </p:nvSpPr>
        <p:spPr>
          <a:xfrm>
            <a:off x="8610600" y="53594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08</a:t>
            </a:r>
          </a:p>
        </p:txBody>
      </p:sp>
      <p:sp>
        <p:nvSpPr>
          <p:cNvPr id="256" name="s257"/>
          <p:cNvSpPr/>
          <p:nvPr/>
        </p:nvSpPr>
        <p:spPr>
          <a:xfrm>
            <a:off x="8966200" y="53467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التكاملات الخارجية</a:t>
            </a:r>
          </a:p>
          <a:p>
            <a:pPr algn="r" rtl="1"/>
            <a:r>
              <a:rPr lang="ar-SA" sz="1000" b="0" dirty="0">
                <a:solidFill>
                  <a:srgbClr val="1C1340"/>
                </a:solidFill>
                <a:latin typeface="+mj-lt"/>
              </a:rPr>
              <a:t>بنكية · بوابة الدفع · سداد</a:t>
            </a:r>
          </a:p>
        </p:txBody>
      </p:sp>
      <p:sp>
        <p:nvSpPr>
          <p:cNvPr id="257" name="s258"/>
          <p:cNvSpPr/>
          <p:nvPr/>
        </p:nvSpPr>
        <p:spPr>
          <a:xfrm>
            <a:off x="5586669" y="5486400"/>
            <a:ext cx="1116286" cy="1778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58" name="s259"/>
          <p:cNvSpPr/>
          <p:nvPr/>
        </p:nvSpPr>
        <p:spPr>
          <a:xfrm>
            <a:off x="3986469" y="54610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26 أبريل – 30 مايو</a:t>
            </a:r>
          </a:p>
        </p:txBody>
      </p:sp>
      <p:sp>
        <p:nvSpPr>
          <p:cNvPr id="259" name="s260"/>
          <p:cNvSpPr/>
          <p:nvPr/>
        </p:nvSpPr>
        <p:spPr>
          <a:xfrm>
            <a:off x="8610600" y="5842000"/>
            <a:ext cx="22860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60" name="s261"/>
          <p:cNvSpPr/>
          <p:nvPr/>
        </p:nvSpPr>
        <p:spPr>
          <a:xfrm>
            <a:off x="8610600" y="58420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000" b="1" dirty="0">
                <a:solidFill>
                  <a:srgbClr val="1C1340"/>
                </a:solidFill>
                <a:latin typeface="+mj-lt"/>
              </a:rPr>
              <a:t>09</a:t>
            </a:r>
          </a:p>
        </p:txBody>
      </p:sp>
      <p:sp>
        <p:nvSpPr>
          <p:cNvPr id="261" name="s262"/>
          <p:cNvSpPr/>
          <p:nvPr/>
        </p:nvSpPr>
        <p:spPr>
          <a:xfrm>
            <a:off x="8966200" y="5829300"/>
            <a:ext cx="19050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100" b="1" dirty="0">
                <a:solidFill>
                  <a:srgbClr val="1C1340"/>
                </a:solidFill>
                <a:latin typeface="+mj-lt"/>
              </a:rPr>
              <a:t>المطابقات المالية (20%)</a:t>
            </a:r>
          </a:p>
        </p:txBody>
      </p:sp>
      <p:sp>
        <p:nvSpPr>
          <p:cNvPr id="262" name="s263"/>
          <p:cNvSpPr/>
          <p:nvPr/>
        </p:nvSpPr>
        <p:spPr>
          <a:xfrm>
            <a:off x="6109417" y="5969000"/>
            <a:ext cx="728581" cy="177800"/>
          </a:xfrm>
          <a:prstGeom prst="roundRect">
            <a:avLst/>
          </a:prstGeom>
          <a:solidFill>
            <a:srgbClr val="ECDE2A"/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>
              <a:latin typeface="+mj-lt"/>
            </a:endParaRPr>
          </a:p>
        </p:txBody>
      </p:sp>
      <p:sp>
        <p:nvSpPr>
          <p:cNvPr id="263" name="s264"/>
          <p:cNvSpPr/>
          <p:nvPr/>
        </p:nvSpPr>
        <p:spPr>
          <a:xfrm>
            <a:off x="4509217" y="59436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  <a:latin typeface="+mj-lt"/>
              </a:rPr>
              <a:t>22 أبريل – 14 مايو</a:t>
            </a:r>
          </a:p>
        </p:txBody>
      </p:sp>
      <p:sp>
        <p:nvSpPr>
          <p:cNvPr id="264" name="s265"/>
          <p:cNvSpPr/>
          <p:nvPr/>
        </p:nvSpPr>
        <p:spPr>
          <a:xfrm>
            <a:off x="10947400" y="1981200"/>
            <a:ext cx="787400" cy="2362200"/>
          </a:xfrm>
          <a:prstGeom prst="roundRect">
            <a:avLst/>
          </a:prstGeom>
          <a:solidFill>
            <a:srgbClr val="1C1340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  <a:latin typeface="+mj-lt"/>
              </a:rPr>
              <a:t>البيئة الاختبارية</a:t>
            </a:r>
          </a:p>
        </p:txBody>
      </p:sp>
      <p:sp>
        <p:nvSpPr>
          <p:cNvPr id="265" name="s266"/>
          <p:cNvSpPr/>
          <p:nvPr/>
        </p:nvSpPr>
        <p:spPr>
          <a:xfrm>
            <a:off x="10947400" y="4394200"/>
            <a:ext cx="787400" cy="1879600"/>
          </a:xfrm>
          <a:prstGeom prst="roundRect">
            <a:avLst/>
          </a:prstGeom>
          <a:solidFill>
            <a:srgbClr val="1C1340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  <a:latin typeface="+mj-lt"/>
              </a:rPr>
              <a:t>البيئة الحية</a:t>
            </a:r>
          </a:p>
        </p:txBody>
      </p:sp>
      <p:grpSp>
        <p:nvGrpSpPr>
          <p:cNvPr id="14" name="Status Legend">
            <a:extLst>
              <a:ext uri="{FF2B5EF4-FFF2-40B4-BE49-F238E27FC236}">
                <a16:creationId xmlns:a16="http://schemas.microsoft.com/office/drawing/2014/main" id="{F7B6067C-1C21-19F8-C6BF-411EBB037AE8}"/>
              </a:ext>
            </a:extLst>
          </p:cNvPr>
          <p:cNvGrpSpPr/>
          <p:nvPr/>
        </p:nvGrpSpPr>
        <p:grpSpPr>
          <a:xfrm>
            <a:off x="374260" y="5975383"/>
            <a:ext cx="4548105" cy="269295"/>
            <a:chOff x="1905000" y="6350000"/>
            <a:chExt cx="8382000" cy="381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41219DA-F7FC-0887-FA8E-B9DC9A2124AA}"/>
                </a:ext>
              </a:extLst>
            </p:cNvPr>
            <p:cNvSpPr/>
            <p:nvPr/>
          </p:nvSpPr>
          <p:spPr>
            <a:xfrm>
              <a:off x="1905000" y="6350000"/>
              <a:ext cx="8382000" cy="381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D0D0D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+mj-lt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98DD53B-A7FE-3DD6-7D88-B450FBE68DCE}"/>
                </a:ext>
              </a:extLst>
            </p:cNvPr>
            <p:cNvSpPr/>
            <p:nvPr/>
          </p:nvSpPr>
          <p:spPr>
            <a:xfrm>
              <a:off x="8712200" y="6464300"/>
              <a:ext cx="152400" cy="152400"/>
            </a:xfrm>
            <a:prstGeom prst="ellipse">
              <a:avLst/>
            </a:prstGeom>
            <a:solidFill>
              <a:srgbClr val="A0A0A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+mj-lt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6AEA4D3-D873-166C-BFBE-A41D27801B99}"/>
                </a:ext>
              </a:extLst>
            </p:cNvPr>
            <p:cNvSpPr txBox="1"/>
            <p:nvPr/>
          </p:nvSpPr>
          <p:spPr>
            <a:xfrm>
              <a:off x="89154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  <a:latin typeface="+mj-lt"/>
                </a:rPr>
                <a:t>لم يبدأ</a:t>
              </a:r>
              <a:endParaRPr lang="en-US" sz="1100" b="1">
                <a:solidFill>
                  <a:srgbClr val="333333"/>
                </a:solidFill>
                <a:latin typeface="+mj-lt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5659C48-157F-605B-BA7F-5BC4F3D20B3C}"/>
                </a:ext>
              </a:extLst>
            </p:cNvPr>
            <p:cNvSpPr/>
            <p:nvPr/>
          </p:nvSpPr>
          <p:spPr>
            <a:xfrm>
              <a:off x="7035800" y="6464300"/>
              <a:ext cx="152400" cy="152400"/>
            </a:xfrm>
            <a:prstGeom prst="ellipse">
              <a:avLst/>
            </a:prstGeom>
            <a:solidFill>
              <a:srgbClr val="F2C94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+mj-lt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7044669-9814-E0B5-A925-8169F895266F}"/>
                </a:ext>
              </a:extLst>
            </p:cNvPr>
            <p:cNvSpPr txBox="1"/>
            <p:nvPr/>
          </p:nvSpPr>
          <p:spPr>
            <a:xfrm>
              <a:off x="72390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  <a:latin typeface="+mj-lt"/>
                </a:rPr>
                <a:t>متأخر قليلاً</a:t>
              </a:r>
              <a:endParaRPr lang="en-US" sz="1100" b="1">
                <a:solidFill>
                  <a:srgbClr val="333333"/>
                </a:solidFill>
                <a:latin typeface="+mj-lt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05C6D09-6C8D-DF03-3295-4898702FA65A}"/>
                </a:ext>
              </a:extLst>
            </p:cNvPr>
            <p:cNvSpPr/>
            <p:nvPr/>
          </p:nvSpPr>
          <p:spPr>
            <a:xfrm>
              <a:off x="5359400" y="6464300"/>
              <a:ext cx="152400" cy="152400"/>
            </a:xfrm>
            <a:prstGeom prst="ellipse">
              <a:avLst/>
            </a:prstGeom>
            <a:solidFill>
              <a:srgbClr val="2E9E47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+mj-lt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E932DF-A8E5-327B-8060-55FD8F7DCEB2}"/>
                </a:ext>
              </a:extLst>
            </p:cNvPr>
            <p:cNvSpPr txBox="1"/>
            <p:nvPr/>
          </p:nvSpPr>
          <p:spPr>
            <a:xfrm>
              <a:off x="55626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  <a:latin typeface="+mj-lt"/>
                </a:rPr>
                <a:t>تحت الاجراء</a:t>
              </a:r>
              <a:endParaRPr lang="en-US" sz="1100" b="1">
                <a:solidFill>
                  <a:srgbClr val="333333"/>
                </a:solidFill>
                <a:latin typeface="+mj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3580FA-27D0-7D22-5FAA-08941A7DD44B}"/>
                </a:ext>
              </a:extLst>
            </p:cNvPr>
            <p:cNvSpPr/>
            <p:nvPr/>
          </p:nvSpPr>
          <p:spPr>
            <a:xfrm>
              <a:off x="3683000" y="6464300"/>
              <a:ext cx="152400" cy="152400"/>
            </a:xfrm>
            <a:prstGeom prst="ellipse">
              <a:avLst/>
            </a:prstGeom>
            <a:solidFill>
              <a:srgbClr val="2D8C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+mj-lt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5E7CA9-930F-DEE7-9DFC-5FC840C2B3E8}"/>
                </a:ext>
              </a:extLst>
            </p:cNvPr>
            <p:cNvSpPr txBox="1"/>
            <p:nvPr/>
          </p:nvSpPr>
          <p:spPr>
            <a:xfrm>
              <a:off x="38862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  <a:latin typeface="+mj-lt"/>
                </a:rPr>
                <a:t>مكتمل</a:t>
              </a:r>
              <a:endParaRPr lang="en-US" sz="1100" b="1">
                <a:solidFill>
                  <a:srgbClr val="333333"/>
                </a:solidFill>
                <a:latin typeface="+mj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C7D6862-30B0-49C3-ED12-29AD9AAAA916}"/>
                </a:ext>
              </a:extLst>
            </p:cNvPr>
            <p:cNvSpPr/>
            <p:nvPr/>
          </p:nvSpPr>
          <p:spPr>
            <a:xfrm>
              <a:off x="2006600" y="6464300"/>
              <a:ext cx="152400" cy="152400"/>
            </a:xfrm>
            <a:prstGeom prst="ellipse">
              <a:avLst/>
            </a:prstGeom>
            <a:solidFill>
              <a:srgbClr val="E6394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>
                <a:latin typeface="+mj-lt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C75D10-0C36-A6B7-0E0E-227E5D96692D}"/>
                </a:ext>
              </a:extLst>
            </p:cNvPr>
            <p:cNvSpPr txBox="1"/>
            <p:nvPr/>
          </p:nvSpPr>
          <p:spPr>
            <a:xfrm>
              <a:off x="22098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  <a:latin typeface="+mj-lt"/>
                </a:rPr>
                <a:t>متأخر</a:t>
              </a:r>
              <a:endParaRPr lang="en-US" sz="1100" b="1">
                <a:solidFill>
                  <a:srgbClr val="333333"/>
                </a:solidFill>
                <a:latin typeface="+mj-lt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5ABFCEB7-8612-3080-78C0-F7A1FAE2F871}"/>
              </a:ext>
            </a:extLst>
          </p:cNvPr>
          <p:cNvSpPr/>
          <p:nvPr/>
        </p:nvSpPr>
        <p:spPr>
          <a:xfrm>
            <a:off x="3111691" y="4899689"/>
            <a:ext cx="3090672" cy="263936"/>
          </a:xfrm>
          <a:prstGeom prst="rect">
            <a:avLst/>
          </a:prstGeom>
          <a:solidFill>
            <a:srgbClr val="ECDE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A046A4-235C-7A7B-F9B0-E9257BE626FC}"/>
              </a:ext>
            </a:extLst>
          </p:cNvPr>
          <p:cNvSpPr/>
          <p:nvPr/>
        </p:nvSpPr>
        <p:spPr>
          <a:xfrm>
            <a:off x="4149490" y="4904208"/>
            <a:ext cx="1015073" cy="261360"/>
          </a:xfrm>
          <a:prstGeom prst="rect">
            <a:avLst/>
          </a:prstGeom>
          <a:solidFill>
            <a:srgbClr val="278B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492" hangingPunct="1"/>
            <a:endParaRPr lang="de-CH" sz="728" dirty="0">
              <a:solidFill>
                <a:prstClr val="white"/>
              </a:solidFill>
              <a:latin typeface="+mj-lt"/>
              <a:cs typeface="Basis Grotesque Arabic Pro" panose="020B05030306040401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F36DA-F03C-8B6B-D5FA-2A2E2010A1E2}"/>
              </a:ext>
            </a:extLst>
          </p:cNvPr>
          <p:cNvSpPr txBox="1"/>
          <p:nvPr/>
        </p:nvSpPr>
        <p:spPr>
          <a:xfrm>
            <a:off x="5316538" y="4931779"/>
            <a:ext cx="9620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800" dirty="0">
                <a:latin typeface="+mj-lt"/>
              </a:rPr>
              <a:t>التكاملات البنكية </a:t>
            </a:r>
            <a:endParaRPr lang="en-US" sz="800" dirty="0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B65917-33C6-D746-A000-E1C8DFF648A5}"/>
              </a:ext>
            </a:extLst>
          </p:cNvPr>
          <p:cNvSpPr txBox="1"/>
          <p:nvPr/>
        </p:nvSpPr>
        <p:spPr>
          <a:xfrm>
            <a:off x="4124091" y="4922520"/>
            <a:ext cx="11900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800" dirty="0">
                <a:latin typeface="+mj-lt"/>
              </a:rPr>
              <a:t>التكامل مع بوابة الدفع</a:t>
            </a:r>
            <a:endParaRPr lang="en-US" sz="800" dirty="0"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FFC948-0FF2-64FC-FBAA-0544800C6F04}"/>
              </a:ext>
            </a:extLst>
          </p:cNvPr>
          <p:cNvSpPr txBox="1"/>
          <p:nvPr/>
        </p:nvSpPr>
        <p:spPr>
          <a:xfrm>
            <a:off x="3084364" y="4922520"/>
            <a:ext cx="11900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SA" sz="800" dirty="0">
                <a:latin typeface="+mj-lt"/>
              </a:rPr>
              <a:t>التكاملات مع سداد</a:t>
            </a:r>
            <a:endParaRPr lang="en-US" sz="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43178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98576-7E1C-20BB-A01E-0703C4A3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1"/>
          <p:cNvSpPr/>
          <p:nvPr/>
        </p:nvSpPr>
        <p:spPr>
          <a:xfrm>
            <a:off x="7808349" y="248920"/>
            <a:ext cx="2540000" cy="330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400" b="1" dirty="0">
                <a:solidFill>
                  <a:srgbClr val="5E2EE8"/>
                </a:solidFill>
              </a:rPr>
              <a:t>المرحلة الثالثة</a:t>
            </a:r>
          </a:p>
        </p:txBody>
      </p:sp>
      <p:sp>
        <p:nvSpPr>
          <p:cNvPr id="201" name="s202"/>
          <p:cNvSpPr/>
          <p:nvPr/>
        </p:nvSpPr>
        <p:spPr>
          <a:xfrm>
            <a:off x="1444625" y="311150"/>
            <a:ext cx="5842000" cy="6350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2000" b="1" dirty="0">
                <a:solidFill>
                  <a:schemeClr val="bg1"/>
                </a:solidFill>
              </a:rPr>
              <a:t>ترحيل البيانات والمبادرات</a:t>
            </a:r>
          </a:p>
        </p:txBody>
      </p:sp>
      <p:sp>
        <p:nvSpPr>
          <p:cNvPr id="202" name="s203"/>
          <p:cNvSpPr/>
          <p:nvPr/>
        </p:nvSpPr>
        <p:spPr>
          <a:xfrm>
            <a:off x="457200" y="24257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/>
          </a:p>
        </p:txBody>
      </p:sp>
      <p:sp>
        <p:nvSpPr>
          <p:cNvPr id="203" name="s204"/>
          <p:cNvSpPr/>
          <p:nvPr/>
        </p:nvSpPr>
        <p:spPr>
          <a:xfrm>
            <a:off x="457200" y="29083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/>
          </a:p>
        </p:txBody>
      </p:sp>
      <p:sp>
        <p:nvSpPr>
          <p:cNvPr id="204" name="s205"/>
          <p:cNvSpPr/>
          <p:nvPr/>
        </p:nvSpPr>
        <p:spPr>
          <a:xfrm>
            <a:off x="457200" y="3390900"/>
            <a:ext cx="8102600" cy="15240"/>
          </a:xfrm>
          <a:prstGeom prst="rect">
            <a:avLst/>
          </a:prstGeom>
          <a:solidFill>
            <a:srgbClr val="ECECEC"/>
          </a:solidFill>
        </p:spPr>
        <p:txBody>
          <a:bodyPr wrap="square" lIns="45720" tIns="3600" rIns="45720" bIns="3600" rtlCol="1" anchor="ctr">
            <a:normAutofit fontScale="25000" lnSpcReduction="20000"/>
          </a:bodyPr>
          <a:lstStyle/>
          <a:p>
            <a:endParaRPr lang="ar-SA"/>
          </a:p>
        </p:txBody>
      </p:sp>
      <p:sp>
        <p:nvSpPr>
          <p:cNvPr id="210" name="s211"/>
          <p:cNvSpPr/>
          <p:nvPr/>
        </p:nvSpPr>
        <p:spPr>
          <a:xfrm>
            <a:off x="757237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مارس</a:t>
            </a:r>
          </a:p>
        </p:txBody>
      </p:sp>
      <p:sp>
        <p:nvSpPr>
          <p:cNvPr id="211" name="s212"/>
          <p:cNvSpPr/>
          <p:nvPr/>
        </p:nvSpPr>
        <p:spPr>
          <a:xfrm>
            <a:off x="655955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أبريل</a:t>
            </a:r>
          </a:p>
        </p:txBody>
      </p:sp>
      <p:sp>
        <p:nvSpPr>
          <p:cNvPr id="212" name="s213"/>
          <p:cNvSpPr/>
          <p:nvPr/>
        </p:nvSpPr>
        <p:spPr>
          <a:xfrm>
            <a:off x="554672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مايو</a:t>
            </a:r>
          </a:p>
        </p:txBody>
      </p:sp>
      <p:sp>
        <p:nvSpPr>
          <p:cNvPr id="213" name="s214"/>
          <p:cNvSpPr/>
          <p:nvPr/>
        </p:nvSpPr>
        <p:spPr>
          <a:xfrm>
            <a:off x="453390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يونيو</a:t>
            </a:r>
          </a:p>
        </p:txBody>
      </p:sp>
      <p:sp>
        <p:nvSpPr>
          <p:cNvPr id="214" name="s215"/>
          <p:cNvSpPr/>
          <p:nvPr/>
        </p:nvSpPr>
        <p:spPr>
          <a:xfrm>
            <a:off x="352107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يوليو</a:t>
            </a:r>
          </a:p>
        </p:txBody>
      </p:sp>
      <p:sp>
        <p:nvSpPr>
          <p:cNvPr id="215" name="s216"/>
          <p:cNvSpPr/>
          <p:nvPr/>
        </p:nvSpPr>
        <p:spPr>
          <a:xfrm>
            <a:off x="250825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أغسطس</a:t>
            </a:r>
          </a:p>
        </p:txBody>
      </p:sp>
      <p:sp>
        <p:nvSpPr>
          <p:cNvPr id="216" name="s217"/>
          <p:cNvSpPr/>
          <p:nvPr/>
        </p:nvSpPr>
        <p:spPr>
          <a:xfrm>
            <a:off x="1495425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سبتمبر</a:t>
            </a:r>
          </a:p>
        </p:txBody>
      </p:sp>
      <p:sp>
        <p:nvSpPr>
          <p:cNvPr id="217" name="s218"/>
          <p:cNvSpPr/>
          <p:nvPr/>
        </p:nvSpPr>
        <p:spPr>
          <a:xfrm>
            <a:off x="482600" y="1524000"/>
            <a:ext cx="962025" cy="381000"/>
          </a:xfrm>
          <a:prstGeom prst="roundRect">
            <a:avLst/>
          </a:prstGeom>
          <a:solidFill>
            <a:srgbClr val="5E2EE8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FFFFFF"/>
                </a:solidFill>
              </a:rPr>
              <a:t>أكتوبر</a:t>
            </a:r>
          </a:p>
        </p:txBody>
      </p:sp>
      <p:sp>
        <p:nvSpPr>
          <p:cNvPr id="218" name="s219"/>
          <p:cNvSpPr/>
          <p:nvPr/>
        </p:nvSpPr>
        <p:spPr>
          <a:xfrm>
            <a:off x="8610600" y="1524000"/>
            <a:ext cx="3124200" cy="381000"/>
          </a:xfrm>
          <a:prstGeom prst="roundRect">
            <a:avLst/>
          </a:prstGeom>
          <a:solidFill>
            <a:srgbClr val="1C1340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الوصف</a:t>
            </a:r>
          </a:p>
        </p:txBody>
      </p:sp>
      <p:sp>
        <p:nvSpPr>
          <p:cNvPr id="219" name="s220"/>
          <p:cNvSpPr/>
          <p:nvPr/>
        </p:nvSpPr>
        <p:spPr>
          <a:xfrm>
            <a:off x="8610600" y="1981200"/>
            <a:ext cx="31242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20" name="s221"/>
          <p:cNvSpPr/>
          <p:nvPr/>
        </p:nvSpPr>
        <p:spPr>
          <a:xfrm>
            <a:off x="8610600" y="19812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endParaRPr lang="ar-SA" sz="1000" b="1" dirty="0">
              <a:solidFill>
                <a:srgbClr val="1C1340"/>
              </a:solidFill>
            </a:endParaRPr>
          </a:p>
        </p:txBody>
      </p:sp>
      <p:sp>
        <p:nvSpPr>
          <p:cNvPr id="221" name="s222"/>
          <p:cNvSpPr/>
          <p:nvPr/>
        </p:nvSpPr>
        <p:spPr>
          <a:xfrm>
            <a:off x="8763000" y="1968500"/>
            <a:ext cx="29464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1C1340"/>
                </a:solidFill>
              </a:rPr>
              <a:t>ترحيل جميع بيانات المبادرات إلى النظام الجديد</a:t>
            </a:r>
          </a:p>
        </p:txBody>
      </p:sp>
      <p:sp>
        <p:nvSpPr>
          <p:cNvPr id="222" name="s223"/>
          <p:cNvSpPr/>
          <p:nvPr/>
        </p:nvSpPr>
        <p:spPr>
          <a:xfrm>
            <a:off x="5994400" y="2108200"/>
            <a:ext cx="495300" cy="1778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/>
          </a:p>
        </p:txBody>
      </p:sp>
      <p:sp>
        <p:nvSpPr>
          <p:cNvPr id="223" name="s224"/>
          <p:cNvSpPr/>
          <p:nvPr/>
        </p:nvSpPr>
        <p:spPr>
          <a:xfrm>
            <a:off x="4445000" y="20828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</a:rPr>
              <a:t>15 – 30 مايو</a:t>
            </a:r>
          </a:p>
        </p:txBody>
      </p:sp>
      <p:sp>
        <p:nvSpPr>
          <p:cNvPr id="224" name="s225"/>
          <p:cNvSpPr/>
          <p:nvPr/>
        </p:nvSpPr>
        <p:spPr>
          <a:xfrm>
            <a:off x="8610600" y="2463800"/>
            <a:ext cx="31242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25" name="s226"/>
          <p:cNvSpPr/>
          <p:nvPr/>
        </p:nvSpPr>
        <p:spPr>
          <a:xfrm>
            <a:off x="8610600" y="24638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endParaRPr lang="ar-SA" sz="1000" b="1" dirty="0">
              <a:solidFill>
                <a:srgbClr val="1C1340"/>
              </a:solidFill>
            </a:endParaRPr>
          </a:p>
        </p:txBody>
      </p:sp>
      <p:sp>
        <p:nvSpPr>
          <p:cNvPr id="226" name="s227"/>
          <p:cNvSpPr/>
          <p:nvPr/>
        </p:nvSpPr>
        <p:spPr>
          <a:xfrm>
            <a:off x="8763000" y="2451100"/>
            <a:ext cx="29464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1C1340"/>
                </a:solidFill>
              </a:rPr>
              <a:t>اختبار البيانات والتأكد من صحتها ودقتها</a:t>
            </a:r>
          </a:p>
        </p:txBody>
      </p:sp>
      <p:sp>
        <p:nvSpPr>
          <p:cNvPr id="227" name="s228"/>
          <p:cNvSpPr/>
          <p:nvPr/>
        </p:nvSpPr>
        <p:spPr>
          <a:xfrm>
            <a:off x="5994400" y="2590800"/>
            <a:ext cx="495300" cy="1778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/>
          </a:p>
        </p:txBody>
      </p:sp>
      <p:sp>
        <p:nvSpPr>
          <p:cNvPr id="228" name="s229"/>
          <p:cNvSpPr/>
          <p:nvPr/>
        </p:nvSpPr>
        <p:spPr>
          <a:xfrm>
            <a:off x="4445000" y="25654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</a:rPr>
              <a:t>15 – 30 مايو</a:t>
            </a:r>
          </a:p>
        </p:txBody>
      </p:sp>
      <p:sp>
        <p:nvSpPr>
          <p:cNvPr id="229" name="s230"/>
          <p:cNvSpPr/>
          <p:nvPr/>
        </p:nvSpPr>
        <p:spPr>
          <a:xfrm>
            <a:off x="8610600" y="2946400"/>
            <a:ext cx="3124200" cy="431800"/>
          </a:xfrm>
          <a:prstGeom prst="round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30" name="s231"/>
          <p:cNvSpPr/>
          <p:nvPr/>
        </p:nvSpPr>
        <p:spPr>
          <a:xfrm>
            <a:off x="8610600" y="2946400"/>
            <a:ext cx="355600" cy="4318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endParaRPr lang="ar-SA" sz="1000" b="1" dirty="0">
              <a:solidFill>
                <a:srgbClr val="1C1340"/>
              </a:solidFill>
            </a:endParaRPr>
          </a:p>
        </p:txBody>
      </p:sp>
      <p:sp>
        <p:nvSpPr>
          <p:cNvPr id="231" name="s232"/>
          <p:cNvSpPr/>
          <p:nvPr/>
        </p:nvSpPr>
        <p:spPr>
          <a:xfrm>
            <a:off x="8763000" y="2933700"/>
            <a:ext cx="2946400" cy="4572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ctr" rtl="1"/>
            <a:r>
              <a:rPr lang="ar-SA" sz="1100" b="1" dirty="0">
                <a:solidFill>
                  <a:srgbClr val="1C1340"/>
                </a:solidFill>
              </a:rPr>
              <a:t>نقل المبادرات للحساب البنكي الجديد</a:t>
            </a:r>
          </a:p>
        </p:txBody>
      </p:sp>
      <p:sp>
        <p:nvSpPr>
          <p:cNvPr id="232" name="s233"/>
          <p:cNvSpPr/>
          <p:nvPr/>
        </p:nvSpPr>
        <p:spPr>
          <a:xfrm>
            <a:off x="6201833" y="3073400"/>
            <a:ext cx="152400" cy="177800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txBody>
          <a:bodyPr wrap="square" lIns="45720" tIns="3600" rIns="45720" bIns="3600" rtlCol="1" anchor="ctr">
            <a:normAutofit fontScale="62500" lnSpcReduction="20000"/>
          </a:bodyPr>
          <a:lstStyle/>
          <a:p>
            <a:endParaRPr lang="ar-SA"/>
          </a:p>
        </p:txBody>
      </p:sp>
      <p:sp>
        <p:nvSpPr>
          <p:cNvPr id="233" name="s234"/>
          <p:cNvSpPr/>
          <p:nvPr/>
        </p:nvSpPr>
        <p:spPr>
          <a:xfrm>
            <a:off x="4445000" y="3048000"/>
            <a:ext cx="1524000" cy="228600"/>
          </a:xfrm>
          <a:prstGeom prst="rect">
            <a:avLst/>
          </a:prstGeom>
          <a:noFill/>
        </p:spPr>
        <p:txBody>
          <a:bodyPr wrap="square" lIns="45720" tIns="3600" rIns="45720" bIns="3600" rtlCol="1" anchor="ctr">
            <a:normAutofit/>
          </a:bodyPr>
          <a:lstStyle/>
          <a:p>
            <a:pPr algn="r" rtl="1"/>
            <a:r>
              <a:rPr lang="ar-SA" sz="1000" b="1" dirty="0">
                <a:solidFill>
                  <a:srgbClr val="007297"/>
                </a:solidFill>
              </a:rPr>
              <a:t>★  31 مايو</a:t>
            </a:r>
          </a:p>
        </p:txBody>
      </p:sp>
      <p:sp>
        <p:nvSpPr>
          <p:cNvPr id="300" name="RightHeader"/>
          <p:cNvSpPr/>
          <p:nvPr/>
        </p:nvSpPr>
        <p:spPr>
          <a:xfrm>
            <a:off x="6350000" y="3746500"/>
            <a:ext cx="4826000" cy="431800"/>
          </a:xfrm>
          <a:prstGeom prst="rect">
            <a:avLst/>
          </a:prstGeom>
          <a:solidFill>
            <a:srgbClr val="1C1340"/>
          </a:solidFill>
          <a:ln>
            <a:noFill/>
          </a:ln>
        </p:spPr>
        <p:txBody>
          <a:bodyPr wrap="square" lIns="45720" tIns="45720" rIns="45720" bIns="45720" anchor="ctr" anchorCtr="0"/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المبادرات التي سوف يتم نقلها في هذه المرحلة</a:t>
            </a:r>
          </a:p>
        </p:txBody>
      </p:sp>
      <p:sp>
        <p:nvSpPr>
          <p:cNvPr id="301" name="LeftHeader"/>
          <p:cNvSpPr/>
          <p:nvPr/>
        </p:nvSpPr>
        <p:spPr>
          <a:xfrm>
            <a:off x="1016000" y="3746500"/>
            <a:ext cx="4826000" cy="431800"/>
          </a:xfrm>
          <a:prstGeom prst="rect">
            <a:avLst/>
          </a:prstGeom>
          <a:solidFill>
            <a:srgbClr val="1C1340"/>
          </a:solidFill>
          <a:ln>
            <a:noFill/>
          </a:ln>
        </p:spPr>
        <p:txBody>
          <a:bodyPr wrap="square" lIns="45720" tIns="45720" rIns="45720" bIns="45720" anchor="ctr" anchorCtr="0"/>
          <a:lstStyle/>
          <a:p>
            <a:pPr algn="ctr" rtl="1"/>
            <a:r>
              <a:rPr lang="ar-SA" sz="1300" b="1" dirty="0">
                <a:solidFill>
                  <a:srgbClr val="FFFFFF"/>
                </a:solidFill>
              </a:rPr>
              <a:t>المبادرات التي سوف يتم اضافتها للنظام المالي لاحقاً</a:t>
            </a:r>
          </a:p>
        </p:txBody>
      </p:sp>
      <p:sp>
        <p:nvSpPr>
          <p:cNvPr id="302" name="RightBullets"/>
          <p:cNvSpPr txBox="1"/>
          <p:nvPr/>
        </p:nvSpPr>
        <p:spPr>
          <a:xfrm>
            <a:off x="6350000" y="4292600"/>
            <a:ext cx="4826000" cy="2476500"/>
          </a:xfrm>
          <a:prstGeom prst="rect">
            <a:avLst/>
          </a:prstGeom>
          <a:noFill/>
        </p:spPr>
        <p:txBody>
          <a:bodyPr wrap="square" lIns="91440" tIns="45720" rIns="91440" bIns="45720" anchor="t" anchorCtr="0"/>
          <a:lstStyle/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سكني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ديجيتار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الوساطة العقارية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البيانات العقارية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بلدي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بلدي تصنيف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مستدام</a:t>
            </a:r>
          </a:p>
        </p:txBody>
      </p:sp>
      <p:sp>
        <p:nvSpPr>
          <p:cNvPr id="303" name="LeftBullets"/>
          <p:cNvSpPr txBox="1"/>
          <p:nvPr/>
        </p:nvSpPr>
        <p:spPr>
          <a:xfrm>
            <a:off x="1016000" y="4292600"/>
            <a:ext cx="4826000" cy="2476500"/>
          </a:xfrm>
          <a:prstGeom prst="rect">
            <a:avLst/>
          </a:prstGeom>
          <a:noFill/>
        </p:spPr>
        <p:txBody>
          <a:bodyPr wrap="square" lIns="91440" tIns="45720" rIns="91440" bIns="45720" anchor="t" anchorCtr="0"/>
          <a:lstStyle/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فرز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ملاك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سبلاي برو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وافي</a:t>
            </a:r>
          </a:p>
          <a:p>
            <a:pPr marL="171450" indent="-171450" algn="r" rtl="1">
              <a:lnSpc>
                <a:spcPts val="1800"/>
              </a:lnSpc>
              <a:spcAft>
                <a:spcPts val="300"/>
              </a:spcAft>
              <a:buFont typeface="Arial"/>
              <a:buChar char="•"/>
            </a:pPr>
            <a:r>
              <a:rPr lang="ar-SA" sz="1400" b="1" dirty="0">
                <a:solidFill>
                  <a:srgbClr val="5E2EE8"/>
                </a:solidFill>
              </a:rPr>
              <a:t>ايجار</a:t>
            </a:r>
          </a:p>
        </p:txBody>
      </p:sp>
      <p:grpSp>
        <p:nvGrpSpPr>
          <p:cNvPr id="2" name="Status Legend">
            <a:extLst>
              <a:ext uri="{FF2B5EF4-FFF2-40B4-BE49-F238E27FC236}">
                <a16:creationId xmlns:a16="http://schemas.microsoft.com/office/drawing/2014/main" id="{81E2FFCA-16E0-9C42-C59F-EC32EE46FE18}"/>
              </a:ext>
            </a:extLst>
          </p:cNvPr>
          <p:cNvGrpSpPr/>
          <p:nvPr/>
        </p:nvGrpSpPr>
        <p:grpSpPr>
          <a:xfrm>
            <a:off x="374260" y="5975383"/>
            <a:ext cx="4548105" cy="269295"/>
            <a:chOff x="1905000" y="6350000"/>
            <a:chExt cx="8382000" cy="381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3BDFF97-DB79-4D16-EABD-4D9F92B2D0B5}"/>
                </a:ext>
              </a:extLst>
            </p:cNvPr>
            <p:cNvSpPr/>
            <p:nvPr/>
          </p:nvSpPr>
          <p:spPr>
            <a:xfrm>
              <a:off x="1905000" y="6350000"/>
              <a:ext cx="8382000" cy="381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D0D0D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D4F52F1-841D-30F9-9BF1-3DBA2A135EC7}"/>
                </a:ext>
              </a:extLst>
            </p:cNvPr>
            <p:cNvSpPr/>
            <p:nvPr/>
          </p:nvSpPr>
          <p:spPr>
            <a:xfrm>
              <a:off x="8712200" y="6464300"/>
              <a:ext cx="152400" cy="152400"/>
            </a:xfrm>
            <a:prstGeom prst="ellipse">
              <a:avLst/>
            </a:prstGeom>
            <a:solidFill>
              <a:srgbClr val="A0A0A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89E257-666D-D8B9-79F5-F3137F3DA3A1}"/>
                </a:ext>
              </a:extLst>
            </p:cNvPr>
            <p:cNvSpPr txBox="1"/>
            <p:nvPr/>
          </p:nvSpPr>
          <p:spPr>
            <a:xfrm>
              <a:off x="89154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لم يبدأ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1B878D5-2038-4291-C1D5-35E90F733216}"/>
                </a:ext>
              </a:extLst>
            </p:cNvPr>
            <p:cNvSpPr/>
            <p:nvPr/>
          </p:nvSpPr>
          <p:spPr>
            <a:xfrm>
              <a:off x="7035800" y="6464300"/>
              <a:ext cx="152400" cy="152400"/>
            </a:xfrm>
            <a:prstGeom prst="ellipse">
              <a:avLst/>
            </a:prstGeom>
            <a:solidFill>
              <a:srgbClr val="F2C94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0E18396-9218-BE2E-6547-4A816F70E5D4}"/>
                </a:ext>
              </a:extLst>
            </p:cNvPr>
            <p:cNvSpPr txBox="1"/>
            <p:nvPr/>
          </p:nvSpPr>
          <p:spPr>
            <a:xfrm>
              <a:off x="72390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 قليلاً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7100A20-3A43-DC8C-6C50-1F69E5DF298F}"/>
                </a:ext>
              </a:extLst>
            </p:cNvPr>
            <p:cNvSpPr/>
            <p:nvPr/>
          </p:nvSpPr>
          <p:spPr>
            <a:xfrm>
              <a:off x="5359400" y="6464300"/>
              <a:ext cx="152400" cy="152400"/>
            </a:xfrm>
            <a:prstGeom prst="ellipse">
              <a:avLst/>
            </a:prstGeom>
            <a:solidFill>
              <a:srgbClr val="2E9E47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8F6576-FC04-5D79-5580-22748D2D35D8}"/>
                </a:ext>
              </a:extLst>
            </p:cNvPr>
            <p:cNvSpPr txBox="1"/>
            <p:nvPr/>
          </p:nvSpPr>
          <p:spPr>
            <a:xfrm>
              <a:off x="55626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تحت الاجراء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E6F0F81-B7BE-3EF6-2F83-9FC6A74FC487}"/>
                </a:ext>
              </a:extLst>
            </p:cNvPr>
            <p:cNvSpPr/>
            <p:nvPr/>
          </p:nvSpPr>
          <p:spPr>
            <a:xfrm>
              <a:off x="3683000" y="6464300"/>
              <a:ext cx="152400" cy="152400"/>
            </a:xfrm>
            <a:prstGeom prst="ellipse">
              <a:avLst/>
            </a:prstGeom>
            <a:solidFill>
              <a:srgbClr val="2D8C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C5C8E2D-1851-9452-9A75-608455580974}"/>
                </a:ext>
              </a:extLst>
            </p:cNvPr>
            <p:cNvSpPr txBox="1"/>
            <p:nvPr/>
          </p:nvSpPr>
          <p:spPr>
            <a:xfrm>
              <a:off x="38862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مكتمل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DBF363-D83C-3376-5FDF-BFC88B32ADE0}"/>
                </a:ext>
              </a:extLst>
            </p:cNvPr>
            <p:cNvSpPr/>
            <p:nvPr/>
          </p:nvSpPr>
          <p:spPr>
            <a:xfrm>
              <a:off x="2006600" y="6464300"/>
              <a:ext cx="152400" cy="152400"/>
            </a:xfrm>
            <a:prstGeom prst="ellipse">
              <a:avLst/>
            </a:prstGeom>
            <a:solidFill>
              <a:srgbClr val="E6394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A6ED4E-093B-2481-4C94-159ABD25C4BF}"/>
                </a:ext>
              </a:extLst>
            </p:cNvPr>
            <p:cNvSpPr txBox="1"/>
            <p:nvPr/>
          </p:nvSpPr>
          <p:spPr>
            <a:xfrm>
              <a:off x="22098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8751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tage"/>
          <p:cNvSpPr/>
          <p:nvPr/>
        </p:nvSpPr>
        <p:spPr>
          <a:xfrm>
            <a:off x="7810500" y="2540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400" b="1" dirty="0">
                <a:solidFill>
                  <a:srgbClr val="5E2EE8"/>
                </a:solidFill>
              </a:rPr>
              <a:t>المرحلة الرابعة</a:t>
            </a:r>
          </a:p>
        </p:txBody>
      </p:sp>
      <p:sp>
        <p:nvSpPr>
          <p:cNvPr id="201" name="Title"/>
          <p:cNvSpPr/>
          <p:nvPr/>
        </p:nvSpPr>
        <p:spPr>
          <a:xfrm>
            <a:off x="920750" y="279400"/>
            <a:ext cx="584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2000" b="1" dirty="0">
                <a:solidFill>
                  <a:schemeClr val="bg1"/>
                </a:solidFill>
              </a:rPr>
              <a:t>الأختبارات</a:t>
            </a:r>
          </a:p>
        </p:txBody>
      </p:sp>
      <p:sp>
        <p:nvSpPr>
          <p:cNvPr id="218" name="DescHeader"/>
          <p:cNvSpPr/>
          <p:nvPr/>
        </p:nvSpPr>
        <p:spPr>
          <a:xfrm>
            <a:off x="8610600" y="1524000"/>
            <a:ext cx="3124200" cy="381000"/>
          </a:xfrm>
          <a:prstGeom prst="roundRect">
            <a:avLst>
              <a:gd name="adj" fmla="val 20000"/>
            </a:avLst>
          </a:prstGeom>
          <a:solidFill>
            <a:srgbClr val="1C1340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الوصف</a:t>
            </a:r>
          </a:p>
        </p:txBody>
      </p:sp>
      <p:sp>
        <p:nvSpPr>
          <p:cNvPr id="210" name="Month_مارس"/>
          <p:cNvSpPr/>
          <p:nvPr/>
        </p:nvSpPr>
        <p:spPr>
          <a:xfrm>
            <a:off x="75692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مارس</a:t>
            </a:r>
          </a:p>
        </p:txBody>
      </p:sp>
      <p:sp>
        <p:nvSpPr>
          <p:cNvPr id="211" name="Month_أبريل"/>
          <p:cNvSpPr/>
          <p:nvPr/>
        </p:nvSpPr>
        <p:spPr>
          <a:xfrm>
            <a:off x="6565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أبريل</a:t>
            </a:r>
          </a:p>
        </p:txBody>
      </p:sp>
      <p:sp>
        <p:nvSpPr>
          <p:cNvPr id="212" name="Month_مايو"/>
          <p:cNvSpPr/>
          <p:nvPr/>
        </p:nvSpPr>
        <p:spPr>
          <a:xfrm>
            <a:off x="5549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مايو</a:t>
            </a:r>
          </a:p>
        </p:txBody>
      </p:sp>
      <p:sp>
        <p:nvSpPr>
          <p:cNvPr id="213" name="Month_يونيو"/>
          <p:cNvSpPr/>
          <p:nvPr/>
        </p:nvSpPr>
        <p:spPr>
          <a:xfrm>
            <a:off x="4533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يونيو</a:t>
            </a:r>
          </a:p>
        </p:txBody>
      </p:sp>
      <p:sp>
        <p:nvSpPr>
          <p:cNvPr id="214" name="Month_يوليو"/>
          <p:cNvSpPr/>
          <p:nvPr/>
        </p:nvSpPr>
        <p:spPr>
          <a:xfrm>
            <a:off x="3517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يوليو</a:t>
            </a:r>
          </a:p>
        </p:txBody>
      </p:sp>
      <p:sp>
        <p:nvSpPr>
          <p:cNvPr id="215" name="Month_أغسطس"/>
          <p:cNvSpPr/>
          <p:nvPr/>
        </p:nvSpPr>
        <p:spPr>
          <a:xfrm>
            <a:off x="25146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أغسطس</a:t>
            </a:r>
          </a:p>
        </p:txBody>
      </p:sp>
      <p:sp>
        <p:nvSpPr>
          <p:cNvPr id="216" name="Month_سبتمبر"/>
          <p:cNvSpPr/>
          <p:nvPr/>
        </p:nvSpPr>
        <p:spPr>
          <a:xfrm>
            <a:off x="14986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سبتمبر</a:t>
            </a:r>
          </a:p>
        </p:txBody>
      </p:sp>
      <p:sp>
        <p:nvSpPr>
          <p:cNvPr id="217" name="Month_اكتوبر"/>
          <p:cNvSpPr/>
          <p:nvPr/>
        </p:nvSpPr>
        <p:spPr>
          <a:xfrm>
            <a:off x="4826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اكتوبر</a:t>
            </a:r>
          </a:p>
        </p:txBody>
      </p:sp>
      <p:sp>
        <p:nvSpPr>
          <p:cNvPr id="202" name="Sep1"/>
          <p:cNvSpPr/>
          <p:nvPr/>
        </p:nvSpPr>
        <p:spPr>
          <a:xfrm>
            <a:off x="457200" y="2489200"/>
            <a:ext cx="8102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03" name="Sep2"/>
          <p:cNvSpPr/>
          <p:nvPr/>
        </p:nvSpPr>
        <p:spPr>
          <a:xfrm>
            <a:off x="457200" y="2997200"/>
            <a:ext cx="8102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19" name="Row1Bg"/>
          <p:cNvSpPr/>
          <p:nvPr/>
        </p:nvSpPr>
        <p:spPr>
          <a:xfrm>
            <a:off x="8610600" y="2032000"/>
            <a:ext cx="3124200" cy="406400"/>
          </a:xfrm>
          <a:prstGeom prst="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20" name="Row1Desc"/>
          <p:cNvSpPr/>
          <p:nvPr/>
        </p:nvSpPr>
        <p:spPr>
          <a:xfrm>
            <a:off x="8737600" y="20320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100" b="1" dirty="0">
                <a:solidFill>
                  <a:srgbClr val="1C1340"/>
                </a:solidFill>
              </a:rPr>
              <a:t>تنفيذ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اختبارات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قبول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المستخدم</a:t>
            </a:r>
          </a:p>
        </p:txBody>
      </p:sp>
      <p:sp>
        <p:nvSpPr>
          <p:cNvPr id="221" name="Row1Bar"/>
          <p:cNvSpPr/>
          <p:nvPr/>
        </p:nvSpPr>
        <p:spPr>
          <a:xfrm>
            <a:off x="5075367" y="2146300"/>
            <a:ext cx="571114" cy="1651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22" name="Row1Date"/>
          <p:cNvSpPr/>
          <p:nvPr/>
        </p:nvSpPr>
        <p:spPr>
          <a:xfrm>
            <a:off x="2921000" y="2133600"/>
            <a:ext cx="184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31 مايو – 11 يونيو</a:t>
            </a:r>
          </a:p>
        </p:txBody>
      </p:sp>
      <p:sp>
        <p:nvSpPr>
          <p:cNvPr id="223" name="Row2Bg"/>
          <p:cNvSpPr/>
          <p:nvPr/>
        </p:nvSpPr>
        <p:spPr>
          <a:xfrm>
            <a:off x="8610600" y="2540000"/>
            <a:ext cx="3124200" cy="406400"/>
          </a:xfrm>
          <a:prstGeom prst="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24" name="Row2Desc"/>
          <p:cNvSpPr/>
          <p:nvPr/>
        </p:nvSpPr>
        <p:spPr>
          <a:xfrm>
            <a:off x="8737600" y="25400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معالجة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أي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مشاكل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أو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اختلافات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قبل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الانتهاء</a:t>
            </a:r>
            <a:r>
              <a:rPr lang="ar-SA" sz="1200" b="1" dirty="0">
                <a:solidFill>
                  <a:srgbClr val="FFFFFF"/>
                </a:solidFill>
              </a:rPr>
              <a:t> </a:t>
            </a:r>
            <a:r>
              <a:rPr lang="ar-SA" sz="1100" b="1" dirty="0">
                <a:solidFill>
                  <a:srgbClr val="1C1340"/>
                </a:solidFill>
              </a:rPr>
              <a:t>النهائي</a:t>
            </a:r>
          </a:p>
        </p:txBody>
      </p:sp>
      <p:sp>
        <p:nvSpPr>
          <p:cNvPr id="225" name="Row2Bar"/>
          <p:cNvSpPr/>
          <p:nvPr/>
        </p:nvSpPr>
        <p:spPr>
          <a:xfrm>
            <a:off x="5069928" y="2667000"/>
            <a:ext cx="641428" cy="1524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26" name="Row2Date"/>
          <p:cNvSpPr/>
          <p:nvPr/>
        </p:nvSpPr>
        <p:spPr>
          <a:xfrm>
            <a:off x="2921000" y="2641600"/>
            <a:ext cx="184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31 مايو – 11 يونيو</a:t>
            </a:r>
          </a:p>
        </p:txBody>
      </p:sp>
      <p:grpSp>
        <p:nvGrpSpPr>
          <p:cNvPr id="2" name="Status Legend">
            <a:extLst>
              <a:ext uri="{FF2B5EF4-FFF2-40B4-BE49-F238E27FC236}">
                <a16:creationId xmlns:a16="http://schemas.microsoft.com/office/drawing/2014/main" id="{EEA439CD-3BD5-9B74-0423-7E7A3F3B344A}"/>
              </a:ext>
            </a:extLst>
          </p:cNvPr>
          <p:cNvGrpSpPr/>
          <p:nvPr/>
        </p:nvGrpSpPr>
        <p:grpSpPr>
          <a:xfrm>
            <a:off x="374260" y="5975383"/>
            <a:ext cx="4548105" cy="269295"/>
            <a:chOff x="1905000" y="6350000"/>
            <a:chExt cx="8382000" cy="381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1F0475-A888-2935-345A-BBA49009D62F}"/>
                </a:ext>
              </a:extLst>
            </p:cNvPr>
            <p:cNvSpPr/>
            <p:nvPr/>
          </p:nvSpPr>
          <p:spPr>
            <a:xfrm>
              <a:off x="1905000" y="6350000"/>
              <a:ext cx="8382000" cy="381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D0D0D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C1CD94C-7453-1803-5B20-A5585844FC1B}"/>
                </a:ext>
              </a:extLst>
            </p:cNvPr>
            <p:cNvSpPr/>
            <p:nvPr/>
          </p:nvSpPr>
          <p:spPr>
            <a:xfrm>
              <a:off x="8712200" y="6464300"/>
              <a:ext cx="152400" cy="152400"/>
            </a:xfrm>
            <a:prstGeom prst="ellipse">
              <a:avLst/>
            </a:prstGeom>
            <a:solidFill>
              <a:srgbClr val="A0A0A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4842E04-466C-AF1B-9B97-3F426017AABE}"/>
                </a:ext>
              </a:extLst>
            </p:cNvPr>
            <p:cNvSpPr txBox="1"/>
            <p:nvPr/>
          </p:nvSpPr>
          <p:spPr>
            <a:xfrm>
              <a:off x="89154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لم يبدأ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317F6CD-661F-2817-1C2F-4F2EC1998F6B}"/>
                </a:ext>
              </a:extLst>
            </p:cNvPr>
            <p:cNvSpPr/>
            <p:nvPr/>
          </p:nvSpPr>
          <p:spPr>
            <a:xfrm>
              <a:off x="7035800" y="6464300"/>
              <a:ext cx="152400" cy="152400"/>
            </a:xfrm>
            <a:prstGeom prst="ellipse">
              <a:avLst/>
            </a:prstGeom>
            <a:solidFill>
              <a:srgbClr val="F2C94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E779DE-F337-C6D4-FF7D-E493E5485F49}"/>
                </a:ext>
              </a:extLst>
            </p:cNvPr>
            <p:cNvSpPr txBox="1"/>
            <p:nvPr/>
          </p:nvSpPr>
          <p:spPr>
            <a:xfrm>
              <a:off x="72390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 قليلاً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69BBE0A-F996-A11A-C628-A6C412606324}"/>
                </a:ext>
              </a:extLst>
            </p:cNvPr>
            <p:cNvSpPr/>
            <p:nvPr/>
          </p:nvSpPr>
          <p:spPr>
            <a:xfrm>
              <a:off x="5359400" y="6464300"/>
              <a:ext cx="152400" cy="152400"/>
            </a:xfrm>
            <a:prstGeom prst="ellipse">
              <a:avLst/>
            </a:prstGeom>
            <a:solidFill>
              <a:srgbClr val="2E9E47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217840F-D0DD-4A5C-8DAC-A7019A4853E0}"/>
                </a:ext>
              </a:extLst>
            </p:cNvPr>
            <p:cNvSpPr txBox="1"/>
            <p:nvPr/>
          </p:nvSpPr>
          <p:spPr>
            <a:xfrm>
              <a:off x="55626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تحت الاجراء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8A55BDA-2CE9-AE0D-3EA7-AC7FAFECD997}"/>
                </a:ext>
              </a:extLst>
            </p:cNvPr>
            <p:cNvSpPr/>
            <p:nvPr/>
          </p:nvSpPr>
          <p:spPr>
            <a:xfrm>
              <a:off x="3683000" y="6464300"/>
              <a:ext cx="152400" cy="152400"/>
            </a:xfrm>
            <a:prstGeom prst="ellipse">
              <a:avLst/>
            </a:prstGeom>
            <a:solidFill>
              <a:srgbClr val="2D8C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171EB2-9D8D-10DE-E8E4-D50E85CEF843}"/>
                </a:ext>
              </a:extLst>
            </p:cNvPr>
            <p:cNvSpPr txBox="1"/>
            <p:nvPr/>
          </p:nvSpPr>
          <p:spPr>
            <a:xfrm>
              <a:off x="38862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مكتمل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5E4F5AA-0F72-8BF4-AC2F-6B318F1F988C}"/>
                </a:ext>
              </a:extLst>
            </p:cNvPr>
            <p:cNvSpPr/>
            <p:nvPr/>
          </p:nvSpPr>
          <p:spPr>
            <a:xfrm>
              <a:off x="2006600" y="6464300"/>
              <a:ext cx="152400" cy="152400"/>
            </a:xfrm>
            <a:prstGeom prst="ellipse">
              <a:avLst/>
            </a:prstGeom>
            <a:solidFill>
              <a:srgbClr val="E6394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51CBDFD-8EFD-F5C8-AB33-35A7E1565009}"/>
                </a:ext>
              </a:extLst>
            </p:cNvPr>
            <p:cNvSpPr txBox="1"/>
            <p:nvPr/>
          </p:nvSpPr>
          <p:spPr>
            <a:xfrm>
              <a:off x="22098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216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tage"/>
          <p:cNvSpPr/>
          <p:nvPr/>
        </p:nvSpPr>
        <p:spPr>
          <a:xfrm>
            <a:off x="7810500" y="2540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400" b="1" dirty="0">
                <a:solidFill>
                  <a:srgbClr val="5E2EE8"/>
                </a:solidFill>
              </a:rPr>
              <a:t>المرحلة الخامسة</a:t>
            </a:r>
          </a:p>
        </p:txBody>
      </p:sp>
      <p:sp>
        <p:nvSpPr>
          <p:cNvPr id="201" name="Title"/>
          <p:cNvSpPr/>
          <p:nvPr/>
        </p:nvSpPr>
        <p:spPr>
          <a:xfrm>
            <a:off x="-255815" y="317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2000" b="1" dirty="0">
                <a:solidFill>
                  <a:schemeClr val="bg1"/>
                </a:solidFill>
              </a:rPr>
              <a:t>الاطلاق والتشغيل الكامل</a:t>
            </a:r>
          </a:p>
        </p:txBody>
      </p:sp>
      <p:sp>
        <p:nvSpPr>
          <p:cNvPr id="218" name="DescHeader"/>
          <p:cNvSpPr/>
          <p:nvPr/>
        </p:nvSpPr>
        <p:spPr>
          <a:xfrm>
            <a:off x="8610600" y="1524000"/>
            <a:ext cx="3124200" cy="381000"/>
          </a:xfrm>
          <a:prstGeom prst="roundRect">
            <a:avLst>
              <a:gd name="adj" fmla="val 20000"/>
            </a:avLst>
          </a:prstGeom>
          <a:solidFill>
            <a:srgbClr val="1C1340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الوصف</a:t>
            </a:r>
          </a:p>
        </p:txBody>
      </p:sp>
      <p:sp>
        <p:nvSpPr>
          <p:cNvPr id="210" name="M_مارس"/>
          <p:cNvSpPr/>
          <p:nvPr/>
        </p:nvSpPr>
        <p:spPr>
          <a:xfrm>
            <a:off x="75692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مارس</a:t>
            </a:r>
          </a:p>
        </p:txBody>
      </p:sp>
      <p:sp>
        <p:nvSpPr>
          <p:cNvPr id="211" name="M_أبريل"/>
          <p:cNvSpPr/>
          <p:nvPr/>
        </p:nvSpPr>
        <p:spPr>
          <a:xfrm>
            <a:off x="6565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أبريل</a:t>
            </a:r>
          </a:p>
        </p:txBody>
      </p:sp>
      <p:sp>
        <p:nvSpPr>
          <p:cNvPr id="212" name="M_مايو"/>
          <p:cNvSpPr/>
          <p:nvPr/>
        </p:nvSpPr>
        <p:spPr>
          <a:xfrm>
            <a:off x="5549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مايو</a:t>
            </a:r>
          </a:p>
        </p:txBody>
      </p:sp>
      <p:sp>
        <p:nvSpPr>
          <p:cNvPr id="213" name="M_يونيو"/>
          <p:cNvSpPr/>
          <p:nvPr/>
        </p:nvSpPr>
        <p:spPr>
          <a:xfrm>
            <a:off x="4533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يونيو</a:t>
            </a:r>
          </a:p>
        </p:txBody>
      </p:sp>
      <p:sp>
        <p:nvSpPr>
          <p:cNvPr id="214" name="M_يوليو"/>
          <p:cNvSpPr/>
          <p:nvPr/>
        </p:nvSpPr>
        <p:spPr>
          <a:xfrm>
            <a:off x="35179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يوليو</a:t>
            </a:r>
          </a:p>
        </p:txBody>
      </p:sp>
      <p:sp>
        <p:nvSpPr>
          <p:cNvPr id="215" name="M_أغسطس"/>
          <p:cNvSpPr/>
          <p:nvPr/>
        </p:nvSpPr>
        <p:spPr>
          <a:xfrm>
            <a:off x="25146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أغسطس</a:t>
            </a:r>
          </a:p>
        </p:txBody>
      </p:sp>
      <p:sp>
        <p:nvSpPr>
          <p:cNvPr id="216" name="M_سبتمبر"/>
          <p:cNvSpPr/>
          <p:nvPr/>
        </p:nvSpPr>
        <p:spPr>
          <a:xfrm>
            <a:off x="14986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سبتمبر</a:t>
            </a:r>
          </a:p>
        </p:txBody>
      </p:sp>
      <p:sp>
        <p:nvSpPr>
          <p:cNvPr id="217" name="M_اكتوبر"/>
          <p:cNvSpPr/>
          <p:nvPr/>
        </p:nvSpPr>
        <p:spPr>
          <a:xfrm>
            <a:off x="482600" y="1524000"/>
            <a:ext cx="965200" cy="381000"/>
          </a:xfrm>
          <a:prstGeom prst="roundRect">
            <a:avLst>
              <a:gd name="adj" fmla="val 20000"/>
            </a:avLst>
          </a:prstGeom>
          <a:solidFill>
            <a:srgbClr val="5E2EE8"/>
          </a:solidFill>
          <a:ln>
            <a:noFill/>
          </a:ln>
        </p:spPr>
        <p:txBody>
          <a:bodyPr wrap="square" lIns="45720" tIns="22860" rIns="45720" bIns="22860" anchor="ctr" anchorCtr="0"/>
          <a:lstStyle/>
          <a:p>
            <a:pPr algn="ctr" rtl="1"/>
            <a:r>
              <a:rPr lang="ar-SA" sz="1400" b="1" dirty="0">
                <a:solidFill>
                  <a:srgbClr val="FFFFFF"/>
                </a:solidFill>
              </a:rPr>
              <a:t>اكتوبر</a:t>
            </a:r>
          </a:p>
        </p:txBody>
      </p:sp>
      <p:sp>
        <p:nvSpPr>
          <p:cNvPr id="219" name="RowBg"/>
          <p:cNvSpPr/>
          <p:nvPr/>
        </p:nvSpPr>
        <p:spPr>
          <a:xfrm>
            <a:off x="8610600" y="2006600"/>
            <a:ext cx="3124200" cy="431800"/>
          </a:xfrm>
          <a:prstGeom prst="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20" name="RowDesc"/>
          <p:cNvSpPr/>
          <p:nvPr/>
        </p:nvSpPr>
        <p:spPr>
          <a:xfrm>
            <a:off x="8737600" y="20066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200" b="1" dirty="0">
                <a:solidFill>
                  <a:srgbClr val="002060"/>
                </a:solidFill>
              </a:rPr>
              <a:t>1. نقل البيانات</a:t>
            </a:r>
          </a:p>
        </p:txBody>
      </p:sp>
      <p:sp>
        <p:nvSpPr>
          <p:cNvPr id="221" name="RowBar"/>
          <p:cNvSpPr/>
          <p:nvPr/>
        </p:nvSpPr>
        <p:spPr>
          <a:xfrm>
            <a:off x="4914900" y="2146300"/>
            <a:ext cx="990600" cy="1524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22" name="RowDate"/>
          <p:cNvSpPr/>
          <p:nvPr/>
        </p:nvSpPr>
        <p:spPr>
          <a:xfrm>
            <a:off x="2540000" y="2006600"/>
            <a:ext cx="2222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12 مايو –</a:t>
            </a:r>
          </a:p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13 يونيو</a:t>
            </a:r>
          </a:p>
        </p:txBody>
      </p:sp>
      <p:sp>
        <p:nvSpPr>
          <p:cNvPr id="202" name="Sep"/>
          <p:cNvSpPr/>
          <p:nvPr/>
        </p:nvSpPr>
        <p:spPr>
          <a:xfrm>
            <a:off x="457200" y="2463800"/>
            <a:ext cx="8102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23" name="RowBg"/>
          <p:cNvSpPr/>
          <p:nvPr/>
        </p:nvSpPr>
        <p:spPr>
          <a:xfrm>
            <a:off x="8610600" y="2489200"/>
            <a:ext cx="3124200" cy="431800"/>
          </a:xfrm>
          <a:prstGeom prst="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24" name="RowDesc"/>
          <p:cNvSpPr/>
          <p:nvPr/>
        </p:nvSpPr>
        <p:spPr>
          <a:xfrm>
            <a:off x="8737600" y="2489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200" b="1" dirty="0">
                <a:solidFill>
                  <a:srgbClr val="002060"/>
                </a:solidFill>
              </a:rPr>
              <a:t>2. نقل الأرصدة</a:t>
            </a:r>
          </a:p>
        </p:txBody>
      </p:sp>
      <p:sp>
        <p:nvSpPr>
          <p:cNvPr id="225" name="RowBar"/>
          <p:cNvSpPr/>
          <p:nvPr/>
        </p:nvSpPr>
        <p:spPr>
          <a:xfrm>
            <a:off x="4914900" y="2628900"/>
            <a:ext cx="990600" cy="1524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26" name="RowDate"/>
          <p:cNvSpPr/>
          <p:nvPr/>
        </p:nvSpPr>
        <p:spPr>
          <a:xfrm>
            <a:off x="2540000" y="2489200"/>
            <a:ext cx="2222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12 مايو –</a:t>
            </a:r>
          </a:p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13 يونيو</a:t>
            </a:r>
          </a:p>
        </p:txBody>
      </p:sp>
      <p:sp>
        <p:nvSpPr>
          <p:cNvPr id="203" name="Sep"/>
          <p:cNvSpPr/>
          <p:nvPr/>
        </p:nvSpPr>
        <p:spPr>
          <a:xfrm>
            <a:off x="457200" y="2946400"/>
            <a:ext cx="8102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28" name="RowDesc"/>
          <p:cNvSpPr/>
          <p:nvPr/>
        </p:nvSpPr>
        <p:spPr>
          <a:xfrm>
            <a:off x="8610600" y="2959100"/>
            <a:ext cx="3124200" cy="635000"/>
          </a:xfrm>
          <a:prstGeom prst="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r>
              <a:rPr lang="ar-SA" sz="1200" dirty="0">
                <a:solidFill>
                  <a:srgbClr val="002060"/>
                </a:solidFill>
              </a:rPr>
              <a:t>3. تفعيل الروابط الجديدة وتعطيل الروابط القديمة</a:t>
            </a:r>
          </a:p>
        </p:txBody>
      </p:sp>
      <p:sp>
        <p:nvSpPr>
          <p:cNvPr id="229" name="RowBar"/>
          <p:cNvSpPr/>
          <p:nvPr/>
        </p:nvSpPr>
        <p:spPr>
          <a:xfrm>
            <a:off x="4914900" y="3213100"/>
            <a:ext cx="990600" cy="1524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30" name="RowDate"/>
          <p:cNvSpPr/>
          <p:nvPr/>
        </p:nvSpPr>
        <p:spPr>
          <a:xfrm>
            <a:off x="2540000" y="2971800"/>
            <a:ext cx="2222500" cy="6350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12 مايو –</a:t>
            </a:r>
          </a:p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13 يونيو</a:t>
            </a:r>
          </a:p>
        </p:txBody>
      </p:sp>
      <p:sp>
        <p:nvSpPr>
          <p:cNvPr id="204" name="Sep"/>
          <p:cNvSpPr/>
          <p:nvPr/>
        </p:nvSpPr>
        <p:spPr>
          <a:xfrm>
            <a:off x="457200" y="3632200"/>
            <a:ext cx="8102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31" name="RowBg"/>
          <p:cNvSpPr/>
          <p:nvPr/>
        </p:nvSpPr>
        <p:spPr>
          <a:xfrm>
            <a:off x="8610600" y="3657600"/>
            <a:ext cx="3124200" cy="431800"/>
          </a:xfrm>
          <a:prstGeom prst="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32" name="RowDesc"/>
          <p:cNvSpPr/>
          <p:nvPr/>
        </p:nvSpPr>
        <p:spPr>
          <a:xfrm>
            <a:off x="8737600" y="36576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200" b="1" dirty="0">
                <a:solidFill>
                  <a:srgbClr val="002060"/>
                </a:solidFill>
              </a:rPr>
              <a:t>4. نقل بوابات الدفع</a:t>
            </a:r>
          </a:p>
        </p:txBody>
      </p:sp>
      <p:sp>
        <p:nvSpPr>
          <p:cNvPr id="233" name="RowBar"/>
          <p:cNvSpPr/>
          <p:nvPr/>
        </p:nvSpPr>
        <p:spPr>
          <a:xfrm>
            <a:off x="4914900" y="3797300"/>
            <a:ext cx="990600" cy="1524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34" name="RowDate"/>
          <p:cNvSpPr/>
          <p:nvPr/>
        </p:nvSpPr>
        <p:spPr>
          <a:xfrm>
            <a:off x="2540000" y="3657600"/>
            <a:ext cx="2222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12 مايو –</a:t>
            </a:r>
          </a:p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13 يونيو</a:t>
            </a:r>
          </a:p>
        </p:txBody>
      </p:sp>
      <p:sp>
        <p:nvSpPr>
          <p:cNvPr id="205" name="Sep"/>
          <p:cNvSpPr/>
          <p:nvPr/>
        </p:nvSpPr>
        <p:spPr>
          <a:xfrm>
            <a:off x="457200" y="4114800"/>
            <a:ext cx="8102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35" name="RowBg"/>
          <p:cNvSpPr/>
          <p:nvPr/>
        </p:nvSpPr>
        <p:spPr>
          <a:xfrm>
            <a:off x="8610600" y="4140200"/>
            <a:ext cx="3124200" cy="431800"/>
          </a:xfrm>
          <a:prstGeom prst="rect">
            <a:avLst/>
          </a:prstGeom>
          <a:solidFill>
            <a:srgbClr val="EDE8FF"/>
          </a:solidFill>
        </p:spPr>
        <p:txBody>
          <a:bodyPr wrap="square" lIns="45720" tIns="3600" rIns="45720" bIns="3600" rtlCol="1" anchor="ctr">
            <a:normAutofit/>
          </a:bodyPr>
          <a:lstStyle/>
          <a:p>
            <a:endParaRPr lang="ar-SA"/>
          </a:p>
        </p:txBody>
      </p:sp>
      <p:sp>
        <p:nvSpPr>
          <p:cNvPr id="236" name="RowDesc"/>
          <p:cNvSpPr/>
          <p:nvPr/>
        </p:nvSpPr>
        <p:spPr>
          <a:xfrm>
            <a:off x="8737600" y="4140200"/>
            <a:ext cx="29464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200" b="1" dirty="0">
                <a:solidFill>
                  <a:srgbClr val="002060"/>
                </a:solidFill>
              </a:rPr>
              <a:t>5. الاطلاق</a:t>
            </a:r>
          </a:p>
        </p:txBody>
      </p:sp>
      <p:sp>
        <p:nvSpPr>
          <p:cNvPr id="237" name="RowMark"/>
          <p:cNvSpPr/>
          <p:nvPr/>
        </p:nvSpPr>
        <p:spPr>
          <a:xfrm>
            <a:off x="4876800" y="4279900"/>
            <a:ext cx="152400" cy="1524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38" name="RowArrow"/>
          <p:cNvSpPr/>
          <p:nvPr/>
        </p:nvSpPr>
        <p:spPr>
          <a:xfrm>
            <a:off x="5156200" y="4252686"/>
            <a:ext cx="203200" cy="2286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sp>
        <p:nvSpPr>
          <p:cNvPr id="239" name="RowDate"/>
          <p:cNvSpPr/>
          <p:nvPr/>
        </p:nvSpPr>
        <p:spPr>
          <a:xfrm>
            <a:off x="2540000" y="4140200"/>
            <a:ext cx="2222500" cy="431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2860" rIns="45720" bIns="22860" anchor="ctr" anchorCtr="0"/>
          <a:lstStyle/>
          <a:p>
            <a:pPr algn="r" rtl="1"/>
            <a:r>
              <a:rPr lang="ar-SA" sz="1100" b="1" dirty="0">
                <a:solidFill>
                  <a:srgbClr val="1C1340"/>
                </a:solidFill>
              </a:rPr>
              <a:t>14 يونيو</a:t>
            </a:r>
          </a:p>
        </p:txBody>
      </p:sp>
      <p:sp>
        <p:nvSpPr>
          <p:cNvPr id="206" name="SepEnd"/>
          <p:cNvSpPr/>
          <p:nvPr/>
        </p:nvSpPr>
        <p:spPr>
          <a:xfrm>
            <a:off x="457200" y="4622800"/>
            <a:ext cx="81026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/>
          <a:lstStyle/>
          <a:p>
            <a:endParaRPr lang="ar-SA"/>
          </a:p>
        </p:txBody>
      </p:sp>
      <p:grpSp>
        <p:nvGrpSpPr>
          <p:cNvPr id="2" name="Status Legend">
            <a:extLst>
              <a:ext uri="{FF2B5EF4-FFF2-40B4-BE49-F238E27FC236}">
                <a16:creationId xmlns:a16="http://schemas.microsoft.com/office/drawing/2014/main" id="{F10ED68B-D897-1C15-84F6-A28AB57D7FC1}"/>
              </a:ext>
            </a:extLst>
          </p:cNvPr>
          <p:cNvGrpSpPr/>
          <p:nvPr/>
        </p:nvGrpSpPr>
        <p:grpSpPr>
          <a:xfrm>
            <a:off x="374260" y="5975383"/>
            <a:ext cx="4548105" cy="269295"/>
            <a:chOff x="1905000" y="6350000"/>
            <a:chExt cx="8382000" cy="381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C2490A2-04B1-4B3A-FB06-BBB3FE62CEBF}"/>
                </a:ext>
              </a:extLst>
            </p:cNvPr>
            <p:cNvSpPr/>
            <p:nvPr/>
          </p:nvSpPr>
          <p:spPr>
            <a:xfrm>
              <a:off x="1905000" y="6350000"/>
              <a:ext cx="8382000" cy="3810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solidFill>
                <a:srgbClr val="D0D0D0"/>
              </a:solidFill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B582E49-82F9-D43B-8200-D2068BD72C73}"/>
                </a:ext>
              </a:extLst>
            </p:cNvPr>
            <p:cNvSpPr/>
            <p:nvPr/>
          </p:nvSpPr>
          <p:spPr>
            <a:xfrm>
              <a:off x="8712200" y="6464300"/>
              <a:ext cx="152400" cy="152400"/>
            </a:xfrm>
            <a:prstGeom prst="ellipse">
              <a:avLst/>
            </a:prstGeom>
            <a:solidFill>
              <a:srgbClr val="A0A0A0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8F97C98-81F7-C773-C75E-3C4415D55B00}"/>
                </a:ext>
              </a:extLst>
            </p:cNvPr>
            <p:cNvSpPr txBox="1"/>
            <p:nvPr/>
          </p:nvSpPr>
          <p:spPr>
            <a:xfrm>
              <a:off x="89154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لم يبدأ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65511C3-C914-AF15-2C6B-DFAD0A8E6101}"/>
                </a:ext>
              </a:extLst>
            </p:cNvPr>
            <p:cNvSpPr/>
            <p:nvPr/>
          </p:nvSpPr>
          <p:spPr>
            <a:xfrm>
              <a:off x="7035800" y="6464300"/>
              <a:ext cx="152400" cy="152400"/>
            </a:xfrm>
            <a:prstGeom prst="ellipse">
              <a:avLst/>
            </a:prstGeom>
            <a:solidFill>
              <a:srgbClr val="F2C94C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C7E397A-472D-E3DC-4A7F-2F1DB78CADEB}"/>
                </a:ext>
              </a:extLst>
            </p:cNvPr>
            <p:cNvSpPr txBox="1"/>
            <p:nvPr/>
          </p:nvSpPr>
          <p:spPr>
            <a:xfrm>
              <a:off x="72390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 قليلاً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8BA542-74C7-6C93-0711-E73BE4035782}"/>
                </a:ext>
              </a:extLst>
            </p:cNvPr>
            <p:cNvSpPr/>
            <p:nvPr/>
          </p:nvSpPr>
          <p:spPr>
            <a:xfrm>
              <a:off x="5359400" y="6464300"/>
              <a:ext cx="152400" cy="152400"/>
            </a:xfrm>
            <a:prstGeom prst="ellipse">
              <a:avLst/>
            </a:prstGeom>
            <a:solidFill>
              <a:srgbClr val="2E9E47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EBEB410-1DD0-6A83-1C3A-CB787312F513}"/>
                </a:ext>
              </a:extLst>
            </p:cNvPr>
            <p:cNvSpPr txBox="1"/>
            <p:nvPr/>
          </p:nvSpPr>
          <p:spPr>
            <a:xfrm>
              <a:off x="55626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تحت الاجراء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8948120-0986-5C10-0ABD-651882F86112}"/>
                </a:ext>
              </a:extLst>
            </p:cNvPr>
            <p:cNvSpPr/>
            <p:nvPr/>
          </p:nvSpPr>
          <p:spPr>
            <a:xfrm>
              <a:off x="3683000" y="6464300"/>
              <a:ext cx="152400" cy="152400"/>
            </a:xfrm>
            <a:prstGeom prst="ellipse">
              <a:avLst/>
            </a:prstGeom>
            <a:solidFill>
              <a:srgbClr val="2D8CFF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D7C4CB-8941-0F8C-38FB-FAEDF3A1C532}"/>
                </a:ext>
              </a:extLst>
            </p:cNvPr>
            <p:cNvSpPr txBox="1"/>
            <p:nvPr/>
          </p:nvSpPr>
          <p:spPr>
            <a:xfrm>
              <a:off x="38862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مكتمل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B28C09F-5982-C026-7A2F-955A81E0C457}"/>
                </a:ext>
              </a:extLst>
            </p:cNvPr>
            <p:cNvSpPr/>
            <p:nvPr/>
          </p:nvSpPr>
          <p:spPr>
            <a:xfrm>
              <a:off x="2006600" y="6464300"/>
              <a:ext cx="152400" cy="152400"/>
            </a:xfrm>
            <a:prstGeom prst="ellipse">
              <a:avLst/>
            </a:prstGeom>
            <a:solidFill>
              <a:srgbClr val="E63946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rtlCol="0" anchor="t"/>
            <a:lstStyle/>
            <a:p>
              <a:pPr algn="l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659E45-3509-9CBE-606A-963A96F3BBD1}"/>
                </a:ext>
              </a:extLst>
            </p:cNvPr>
            <p:cNvSpPr txBox="1"/>
            <p:nvPr/>
          </p:nvSpPr>
          <p:spPr>
            <a:xfrm>
              <a:off x="2209800" y="6375400"/>
              <a:ext cx="1320800" cy="330200"/>
            </a:xfrm>
            <a:prstGeom prst="rect">
              <a:avLst/>
            </a:prstGeom>
            <a:noFill/>
          </p:spPr>
          <p:txBody>
            <a:bodyPr vertOverflow="overflow" vert="horz" wrap="none" rtlCol="0" anchor="ctr" anchorCtr="0">
              <a:noAutofit/>
            </a:bodyPr>
            <a:lstStyle/>
            <a:p>
              <a:pPr algn="l"/>
              <a:r>
                <a:rPr lang="ar-SA" sz="1100" b="1">
                  <a:solidFill>
                    <a:srgbClr val="333333"/>
                  </a:solidFill>
                </a:rPr>
                <a:t>متأخر</a:t>
              </a:r>
              <a:endParaRPr lang="en-US" sz="1100" b="1">
                <a:solidFill>
                  <a:srgbClr val="33333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3745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784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97137447]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3">
      <a:majorFont>
        <a:latin typeface="DIN Next LT Arabic"/>
        <a:ea typeface="DIN Next LT Arabic"/>
        <a:cs typeface="DIN Next LT Arabic"/>
      </a:majorFont>
      <a:minorFont>
        <a:latin typeface="DIN Next LT Arabic"/>
        <a:ea typeface="DIN Next LT Arabic"/>
        <a:cs typeface="DIN Next LT Arab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FD95E54-AC63-4DCD-9492-D58684D33335}">
  <we:reference id="11d7cf85-ae5a-43b8-bc58-1e1a151cce24" version="1.0.0.1" store="EXCatalog" storeType="EXCatalog"/>
  <we:alternateReferences>
    <we:reference id="WA200010725" version="1.0.0.1" store="en-US" storeType="OMEX"/>
  </we:alternateReferences>
  <we:properties>
    <we:property name="claude.fileId" value="&quot;bc736d72-c191-49df-a02e-3d86158652a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1529</Words>
  <Application>Microsoft Office PowerPoint</Application>
  <PresentationFormat>Widescreen</PresentationFormat>
  <Paragraphs>610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DIN Next LT Arabic</vt:lpstr>
      <vt:lpstr>DIN Next LT Arabic (Headings)</vt:lpstr>
      <vt:lpstr>Office Theme [1781097137447]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Alsalman</dc:creator>
  <cp:lastModifiedBy>Ali Alsalman</cp:lastModifiedBy>
  <cp:revision>13</cp:revision>
  <dcterms:created xsi:type="dcterms:W3CDTF">2026-06-10T12:30:57Z</dcterms:created>
  <dcterms:modified xsi:type="dcterms:W3CDTF">2026-07-08T14:00:42Z</dcterms:modified>
</cp:coreProperties>
</file>